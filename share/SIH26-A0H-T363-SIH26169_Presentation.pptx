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1" name="Shape 10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[Sources]</a:t>
            </a:r>
          </a:p>
          <a:p>
            <a:r>
              <a:t>Official SIH 2026 Master Catalogue, PS SIH26166 (user-supplied PDF).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1" name="Shape 16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[Sources]</a:t>
            </a:r>
          </a:p>
          <a:p>
            <a:r>
              <a:t>Official SIH 2026 Master Catalogue, PS SIH26166 (user-supplied PDF).</a:t>
            </a:r>
          </a:p>
          <a:p>
            <a:r>
              <a:t>Proposed system architecture; no performance results are claimed.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8" name="Shape 22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[Sources]</a:t>
            </a:r>
          </a:p>
          <a:p>
            <a:r>
              <a:t>Lowe (2004), Distinctive Image Features from Scale-Invariant Keypoints, IJCV.</a:t>
            </a:r>
          </a:p>
          <a:p>
            <a:r>
              <a:t>Xue et al. (2022), LoFTR: Detector-Free Local Feature Matching with Transformers, CVPR.</a:t>
            </a:r>
          </a:p>
          <a:p>
            <a:r>
              <a:t>Barath et al. (2020), MAGSAC++, CVPR.</a:t>
            </a:r>
          </a:p>
          <a:p>
            <a:r>
              <a:t>Kovesi (1999), Image Features From Phase Congruency, Videre.</a:t>
            </a:r>
          </a:p>
          <a:p>
            <a:r>
              <a:t>Proposed pipeline; matcher choice is evaluated experimentally rather than assumed.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30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06" name="Shape 30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[Sources]</a:t>
            </a:r>
          </a:p>
          <a:p>
            <a:r>
              <a:t>Proposed risk controls derived from the SIH26166 requirement for cross-sensor, sun-angle and scale-invariant correspondence.</a:t>
            </a:r>
          </a:p>
          <a:p>
            <a:r>
              <a:t>Barath et al. (2020), MAGSAC++, CVPR.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Shape 35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53" name="Shape 35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[Sources]</a:t>
            </a:r>
          </a:p>
          <a:p>
            <a:r>
              <a:t>Proposed benefits only; no numeric impact or performance claim is made.</a:t>
            </a:r>
          </a:p>
          <a:p>
            <a:r>
              <a:t>Official SIH 2026 Master Catalogue, PS SIH26166 (user-supplied PDF).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Shape 48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82" name="Shape 48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[Sources]</a:t>
            </a:r>
          </a:p>
          <a:p>
            <a:r>
              <a:t>Official SIH 2026 Master Catalogue (user-supplied PDF), PS SIH26166.</a:t>
            </a:r>
          </a:p>
          <a:p>
            <a:r>
              <a:t>Lowe (2004), IJCV; Kovesi (1999), Videre; Xue et al. (2022), CVPR; Barath et al. (2020), CVPR.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914400" y="2130426"/>
            <a:ext cx="10363200" cy="1470027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defRPr>
                <a:solidFill>
                  <a:srgbClr val="888888"/>
                </a:solidFill>
              </a:defRPr>
            </a:lvl1pPr>
            <a:lvl2pPr marL="0" algn="ctr">
              <a:defRPr>
                <a:solidFill>
                  <a:srgbClr val="888888"/>
                </a:solidFill>
              </a:defRPr>
            </a:lvl2pPr>
            <a:lvl3pPr marL="0" algn="ctr">
              <a:defRPr>
                <a:solidFill>
                  <a:srgbClr val="888888"/>
                </a:solidFill>
              </a:defRPr>
            </a:lvl3pPr>
            <a:lvl4pPr marL="0" algn="ctr">
              <a:defRPr>
                <a:solidFill>
                  <a:srgbClr val="888888"/>
                </a:solidFill>
              </a:defRPr>
            </a:lvl4pPr>
            <a:lvl5pPr marL="0" algn="ctr"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1" cy="1362077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63084" y="2906713"/>
            <a:ext cx="103632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defRPr sz="2000">
                <a:solidFill>
                  <a:srgbClr val="888888"/>
                </a:solidFill>
              </a:defRPr>
            </a:lvl1pPr>
            <a:lvl2pPr marL="0">
              <a:spcBef>
                <a:spcPts val="400"/>
              </a:spcBef>
              <a:defRPr sz="2000">
                <a:solidFill>
                  <a:srgbClr val="888888"/>
                </a:solidFill>
              </a:defRPr>
            </a:lvl2pPr>
            <a:lvl3pPr marL="0">
              <a:spcBef>
                <a:spcPts val="400"/>
              </a:spcBef>
              <a:defRPr sz="2000">
                <a:solidFill>
                  <a:srgbClr val="888888"/>
                </a:solidFill>
              </a:defRPr>
            </a:lvl3pPr>
            <a:lvl4pPr marL="0">
              <a:spcBef>
                <a:spcPts val="400"/>
              </a:spcBef>
              <a:defRPr sz="2000">
                <a:solidFill>
                  <a:srgbClr val="888888"/>
                </a:solidFill>
              </a:defRPr>
            </a:lvl4pPr>
            <a:lvl5pPr marL="0">
              <a:spcBef>
                <a:spcPts val="400"/>
              </a:spcBef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308747" y="6404296"/>
            <a:ext cx="273654" cy="26923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>
              <a:spcBef>
                <a:spcPts val="600"/>
              </a:spcBef>
              <a:defRPr sz="2800"/>
            </a:lvl2pPr>
            <a:lvl3pPr>
              <a:spcBef>
                <a:spcPts val="600"/>
              </a:spcBef>
              <a:defRPr sz="2800"/>
            </a:lvl3pPr>
            <a:lvl4pPr>
              <a:spcBef>
                <a:spcPts val="600"/>
              </a:spcBef>
              <a:defRPr sz="2800"/>
            </a:lvl4pPr>
            <a:lvl5pPr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308747" y="6404296"/>
            <a:ext cx="273654" cy="26923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600" y="1535112"/>
            <a:ext cx="5386917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defRPr sz="2400" b="1"/>
            </a:lvl1pPr>
            <a:lvl2pPr marL="0">
              <a:spcBef>
                <a:spcPts val="500"/>
              </a:spcBef>
              <a:defRPr sz="2400" b="1"/>
            </a:lvl2pPr>
            <a:lvl3pPr marL="0">
              <a:spcBef>
                <a:spcPts val="500"/>
              </a:spcBef>
              <a:defRPr sz="2400" b="1"/>
            </a:lvl3pPr>
            <a:lvl4pPr marL="0">
              <a:spcBef>
                <a:spcPts val="500"/>
              </a:spcBef>
              <a:defRPr sz="2400" b="1"/>
            </a:lvl4pPr>
            <a:lvl5pPr marL="0">
              <a:spcBef>
                <a:spcPts val="500"/>
              </a:spcBef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93367" y="1535111"/>
            <a:ext cx="5389036" cy="639765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6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21"/>
          </p:nvPr>
        </p:nvSpPr>
        <p:spPr>
          <a:xfrm>
            <a:off x="609601" y="1435103"/>
            <a:ext cx="4011086" cy="46910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2389715" y="4800600"/>
            <a:ext cx="7315202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2389715" y="612775"/>
            <a:ext cx="73152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389715" y="5367337"/>
            <a:ext cx="73152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defRPr sz="1400"/>
            </a:lvl1pPr>
            <a:lvl2pPr marL="0">
              <a:spcBef>
                <a:spcPts val="300"/>
              </a:spcBef>
              <a:defRPr sz="1400"/>
            </a:lvl2pPr>
            <a:lvl3pPr marL="0">
              <a:spcBef>
                <a:spcPts val="300"/>
              </a:spcBef>
              <a:defRPr sz="1400"/>
            </a:lvl3pPr>
            <a:lvl4pPr marL="0">
              <a:spcBef>
                <a:spcPts val="300"/>
              </a:spcBef>
              <a:defRPr sz="1400"/>
            </a:lvl4pPr>
            <a:lvl5pPr marL="0">
              <a:spcBef>
                <a:spcPts val="300"/>
              </a:spcBef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308747" y="6404296"/>
            <a:ext cx="273654" cy="26923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1pPr>
      <a:lvl2pPr marL="342900" marR="0" indent="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2pPr>
      <a:lvl3pPr marL="342900" marR="0" indent="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3pPr>
      <a:lvl4pPr marL="342900" marR="0" indent="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4pPr>
      <a:lvl5pPr marL="342900" marR="0" indent="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tif"/><Relationship Id="rId4" Type="http://schemas.openxmlformats.org/officeDocument/2006/relationships/image" Target="../media/image3.t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ature.com/articles/s41598-025-17695-7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docs.opencv.org/5.0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1406.1078" TargetMode="External"/><Relationship Id="rId11" Type="http://schemas.openxmlformats.org/officeDocument/2006/relationships/hyperlink" Target="https://pubmed.ncbi.nlm.nih.gov/27828126/" TargetMode="External"/><Relationship Id="rId5" Type="http://schemas.openxmlformats.org/officeDocument/2006/relationships/hyperlink" Target="https://cds.cern.ch/record/434680" TargetMode="External"/><Relationship Id="rId10" Type="http://schemas.openxmlformats.org/officeDocument/2006/relationships/hyperlink" Target="https://opg.optica.org/abstract.cfm?uri=ACPC-2020-M4A.301" TargetMode="External"/><Relationship Id="rId4" Type="http://schemas.openxmlformats.org/officeDocument/2006/relationships/hyperlink" Target="https://www.pscmr.ac.in/PSCMR/sih/index.html" TargetMode="External"/><Relationship Id="rId9" Type="http://schemas.openxmlformats.org/officeDocument/2006/relationships/hyperlink" Target="https://arxiv.org/abs/2511.1606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24"/>
          <p:cNvSpPr/>
          <p:nvPr/>
        </p:nvSpPr>
        <p:spPr>
          <a:xfrm>
            <a:off x="396469" y="0"/>
            <a:ext cx="9144001" cy="6858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95" name="Freeform: Shape 26"/>
          <p:cNvSpPr/>
          <p:nvPr/>
        </p:nvSpPr>
        <p:spPr>
          <a:xfrm>
            <a:off x="7297657" y="1099027"/>
            <a:ext cx="4638606" cy="51549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23" h="21600" extrusionOk="0">
                <a:moveTo>
                  <a:pt x="1264" y="13095"/>
                </a:moveTo>
                <a:cubicBezTo>
                  <a:pt x="1264" y="13095"/>
                  <a:pt x="1264" y="13095"/>
                  <a:pt x="3126" y="13095"/>
                </a:cubicBezTo>
                <a:cubicBezTo>
                  <a:pt x="3243" y="13095"/>
                  <a:pt x="3355" y="13172"/>
                  <a:pt x="3412" y="13298"/>
                </a:cubicBezTo>
                <a:cubicBezTo>
                  <a:pt x="3412" y="13298"/>
                  <a:pt x="3412" y="13298"/>
                  <a:pt x="4345" y="15232"/>
                </a:cubicBezTo>
                <a:cubicBezTo>
                  <a:pt x="4405" y="15353"/>
                  <a:pt x="4405" y="15507"/>
                  <a:pt x="4345" y="15628"/>
                </a:cubicBezTo>
                <a:cubicBezTo>
                  <a:pt x="4345" y="15628"/>
                  <a:pt x="4345" y="15628"/>
                  <a:pt x="3412" y="17563"/>
                </a:cubicBezTo>
                <a:cubicBezTo>
                  <a:pt x="3355" y="17688"/>
                  <a:pt x="3243" y="17765"/>
                  <a:pt x="3126" y="17765"/>
                </a:cubicBezTo>
                <a:cubicBezTo>
                  <a:pt x="3126" y="17765"/>
                  <a:pt x="3126" y="17765"/>
                  <a:pt x="1264" y="17765"/>
                </a:cubicBezTo>
                <a:cubicBezTo>
                  <a:pt x="1143" y="17765"/>
                  <a:pt x="1035" y="17688"/>
                  <a:pt x="974" y="17563"/>
                </a:cubicBezTo>
                <a:cubicBezTo>
                  <a:pt x="974" y="17563"/>
                  <a:pt x="974" y="17563"/>
                  <a:pt x="45" y="15628"/>
                </a:cubicBezTo>
                <a:cubicBezTo>
                  <a:pt x="-15" y="15507"/>
                  <a:pt x="-15" y="15353"/>
                  <a:pt x="45" y="15232"/>
                </a:cubicBezTo>
                <a:cubicBezTo>
                  <a:pt x="45" y="15232"/>
                  <a:pt x="45" y="15232"/>
                  <a:pt x="974" y="13298"/>
                </a:cubicBezTo>
                <a:cubicBezTo>
                  <a:pt x="1035" y="13172"/>
                  <a:pt x="1143" y="13095"/>
                  <a:pt x="1264" y="13095"/>
                </a:cubicBezTo>
                <a:close/>
                <a:moveTo>
                  <a:pt x="8664" y="2389"/>
                </a:moveTo>
                <a:cubicBezTo>
                  <a:pt x="8664" y="2389"/>
                  <a:pt x="8664" y="2389"/>
                  <a:pt x="9622" y="2389"/>
                </a:cubicBezTo>
                <a:lnTo>
                  <a:pt x="9733" y="2389"/>
                </a:lnTo>
                <a:lnTo>
                  <a:pt x="9840" y="2610"/>
                </a:lnTo>
                <a:cubicBezTo>
                  <a:pt x="9988" y="2917"/>
                  <a:pt x="10161" y="3275"/>
                  <a:pt x="10362" y="3692"/>
                </a:cubicBezTo>
                <a:cubicBezTo>
                  <a:pt x="10454" y="3877"/>
                  <a:pt x="10454" y="4113"/>
                  <a:pt x="10362" y="4298"/>
                </a:cubicBezTo>
                <a:cubicBezTo>
                  <a:pt x="10362" y="4298"/>
                  <a:pt x="10362" y="4298"/>
                  <a:pt x="8933" y="7261"/>
                </a:cubicBezTo>
                <a:cubicBezTo>
                  <a:pt x="8847" y="7453"/>
                  <a:pt x="8674" y="7571"/>
                  <a:pt x="8496" y="7571"/>
                </a:cubicBezTo>
                <a:cubicBezTo>
                  <a:pt x="8496" y="7571"/>
                  <a:pt x="8496" y="7571"/>
                  <a:pt x="5644" y="7571"/>
                </a:cubicBezTo>
                <a:cubicBezTo>
                  <a:pt x="5598" y="7571"/>
                  <a:pt x="5553" y="7564"/>
                  <a:pt x="5510" y="7550"/>
                </a:cubicBezTo>
                <a:lnTo>
                  <a:pt x="5417" y="7503"/>
                </a:lnTo>
                <a:lnTo>
                  <a:pt x="5474" y="7386"/>
                </a:lnTo>
                <a:cubicBezTo>
                  <a:pt x="5984" y="6323"/>
                  <a:pt x="6637" y="4963"/>
                  <a:pt x="7473" y="3222"/>
                </a:cubicBezTo>
                <a:cubicBezTo>
                  <a:pt x="7721" y="2706"/>
                  <a:pt x="8168" y="2389"/>
                  <a:pt x="8664" y="2389"/>
                </a:cubicBezTo>
                <a:close/>
                <a:moveTo>
                  <a:pt x="5475" y="0"/>
                </a:moveTo>
                <a:cubicBezTo>
                  <a:pt x="5475" y="0"/>
                  <a:pt x="5475" y="0"/>
                  <a:pt x="8692" y="0"/>
                </a:cubicBezTo>
                <a:cubicBezTo>
                  <a:pt x="8893" y="0"/>
                  <a:pt x="9088" y="133"/>
                  <a:pt x="9185" y="350"/>
                </a:cubicBezTo>
                <a:cubicBezTo>
                  <a:pt x="9185" y="350"/>
                  <a:pt x="9185" y="350"/>
                  <a:pt x="10050" y="2143"/>
                </a:cubicBezTo>
                <a:lnTo>
                  <a:pt x="10147" y="2345"/>
                </a:lnTo>
                <a:lnTo>
                  <a:pt x="9707" y="2345"/>
                </a:lnTo>
                <a:lnTo>
                  <a:pt x="9550" y="2018"/>
                </a:lnTo>
                <a:cubicBezTo>
                  <a:pt x="8947" y="768"/>
                  <a:pt x="8947" y="768"/>
                  <a:pt x="8947" y="768"/>
                </a:cubicBezTo>
                <a:cubicBezTo>
                  <a:pt x="8860" y="576"/>
                  <a:pt x="8688" y="458"/>
                  <a:pt x="8509" y="458"/>
                </a:cubicBezTo>
                <a:cubicBezTo>
                  <a:pt x="5658" y="458"/>
                  <a:pt x="5658" y="458"/>
                  <a:pt x="5658" y="458"/>
                </a:cubicBezTo>
                <a:cubicBezTo>
                  <a:pt x="5473" y="458"/>
                  <a:pt x="5306" y="576"/>
                  <a:pt x="5214" y="768"/>
                </a:cubicBezTo>
                <a:cubicBezTo>
                  <a:pt x="3791" y="3731"/>
                  <a:pt x="3791" y="3731"/>
                  <a:pt x="3791" y="3731"/>
                </a:cubicBezTo>
                <a:cubicBezTo>
                  <a:pt x="3699" y="3916"/>
                  <a:pt x="3699" y="4152"/>
                  <a:pt x="3791" y="4337"/>
                </a:cubicBezTo>
                <a:cubicBezTo>
                  <a:pt x="5214" y="7300"/>
                  <a:pt x="5214" y="7300"/>
                  <a:pt x="5214" y="7300"/>
                </a:cubicBezTo>
                <a:cubicBezTo>
                  <a:pt x="5260" y="7396"/>
                  <a:pt x="5325" y="7474"/>
                  <a:pt x="5401" y="7527"/>
                </a:cubicBezTo>
                <a:lnTo>
                  <a:pt x="5423" y="7538"/>
                </a:lnTo>
                <a:lnTo>
                  <a:pt x="5307" y="7780"/>
                </a:lnTo>
                <a:lnTo>
                  <a:pt x="5220" y="7960"/>
                </a:lnTo>
                <a:lnTo>
                  <a:pt x="5310" y="8005"/>
                </a:lnTo>
                <a:cubicBezTo>
                  <a:pt x="5358" y="8021"/>
                  <a:pt x="5409" y="8029"/>
                  <a:pt x="5461" y="8029"/>
                </a:cubicBezTo>
                <a:cubicBezTo>
                  <a:pt x="8678" y="8029"/>
                  <a:pt x="8678" y="8029"/>
                  <a:pt x="8678" y="8029"/>
                </a:cubicBezTo>
                <a:cubicBezTo>
                  <a:pt x="8880" y="8029"/>
                  <a:pt x="9074" y="7896"/>
                  <a:pt x="9172" y="7679"/>
                </a:cubicBezTo>
                <a:cubicBezTo>
                  <a:pt x="10783" y="4337"/>
                  <a:pt x="10783" y="4337"/>
                  <a:pt x="10783" y="4337"/>
                </a:cubicBezTo>
                <a:cubicBezTo>
                  <a:pt x="10888" y="4128"/>
                  <a:pt x="10888" y="3862"/>
                  <a:pt x="10783" y="3653"/>
                </a:cubicBezTo>
                <a:cubicBezTo>
                  <a:pt x="10582" y="3235"/>
                  <a:pt x="10406" y="2870"/>
                  <a:pt x="10251" y="2550"/>
                </a:cubicBezTo>
                <a:lnTo>
                  <a:pt x="10173" y="2389"/>
                </a:lnTo>
                <a:lnTo>
                  <a:pt x="10534" y="2389"/>
                </a:lnTo>
                <a:cubicBezTo>
                  <a:pt x="11656" y="2389"/>
                  <a:pt x="13452" y="2389"/>
                  <a:pt x="16324" y="2389"/>
                </a:cubicBezTo>
                <a:cubicBezTo>
                  <a:pt x="16804" y="2389"/>
                  <a:pt x="17267" y="2706"/>
                  <a:pt x="17499" y="3222"/>
                </a:cubicBezTo>
                <a:cubicBezTo>
                  <a:pt x="17499" y="3222"/>
                  <a:pt x="17499" y="3222"/>
                  <a:pt x="21337" y="11181"/>
                </a:cubicBezTo>
                <a:cubicBezTo>
                  <a:pt x="21585" y="11677"/>
                  <a:pt x="21585" y="12312"/>
                  <a:pt x="21337" y="12808"/>
                </a:cubicBezTo>
                <a:cubicBezTo>
                  <a:pt x="21337" y="12808"/>
                  <a:pt x="21337" y="12808"/>
                  <a:pt x="17499" y="20766"/>
                </a:cubicBezTo>
                <a:cubicBezTo>
                  <a:pt x="17267" y="21282"/>
                  <a:pt x="16804" y="21600"/>
                  <a:pt x="16324" y="21600"/>
                </a:cubicBezTo>
                <a:cubicBezTo>
                  <a:pt x="16324" y="21600"/>
                  <a:pt x="16324" y="21600"/>
                  <a:pt x="8664" y="21600"/>
                </a:cubicBezTo>
                <a:cubicBezTo>
                  <a:pt x="8168" y="21600"/>
                  <a:pt x="7721" y="21282"/>
                  <a:pt x="7473" y="20766"/>
                </a:cubicBezTo>
                <a:cubicBezTo>
                  <a:pt x="7473" y="20766"/>
                  <a:pt x="7473" y="20766"/>
                  <a:pt x="3651" y="12808"/>
                </a:cubicBezTo>
                <a:cubicBezTo>
                  <a:pt x="3403" y="12312"/>
                  <a:pt x="3403" y="11677"/>
                  <a:pt x="3651" y="11181"/>
                </a:cubicBezTo>
                <a:cubicBezTo>
                  <a:pt x="3651" y="11181"/>
                  <a:pt x="3651" y="11181"/>
                  <a:pt x="5070" y="8226"/>
                </a:cubicBezTo>
                <a:lnTo>
                  <a:pt x="5190" y="7976"/>
                </a:lnTo>
                <a:lnTo>
                  <a:pt x="5186" y="7974"/>
                </a:lnTo>
                <a:cubicBezTo>
                  <a:pt x="5100" y="7914"/>
                  <a:pt x="5027" y="7826"/>
                  <a:pt x="4975" y="7718"/>
                </a:cubicBezTo>
                <a:cubicBezTo>
                  <a:pt x="4975" y="7718"/>
                  <a:pt x="4975" y="7718"/>
                  <a:pt x="3370" y="4376"/>
                </a:cubicBezTo>
                <a:cubicBezTo>
                  <a:pt x="3266" y="4167"/>
                  <a:pt x="3266" y="3901"/>
                  <a:pt x="3370" y="3692"/>
                </a:cubicBezTo>
                <a:cubicBezTo>
                  <a:pt x="3370" y="3692"/>
                  <a:pt x="3370" y="3692"/>
                  <a:pt x="4975" y="350"/>
                </a:cubicBezTo>
                <a:cubicBezTo>
                  <a:pt x="5079" y="133"/>
                  <a:pt x="5267" y="0"/>
                  <a:pt x="5475" y="0"/>
                </a:cubicBezTo>
                <a:close/>
              </a:path>
            </a:pathLst>
          </a:custGeom>
          <a:solidFill>
            <a:srgbClr val="808080">
              <a:alpha val="15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pic>
        <p:nvPicPr>
          <p:cNvPr id="96" name="Picture 4" descr="Picture 4"/>
          <p:cNvPicPr>
            <a:picLocks noChangeAspect="1"/>
          </p:cNvPicPr>
          <p:nvPr/>
        </p:nvPicPr>
        <p:blipFill>
          <a:blip r:embed="rId3"/>
          <a:srcRect r="59916"/>
          <a:stretch>
            <a:fillRect/>
          </a:stretch>
        </p:blipFill>
        <p:spPr>
          <a:xfrm>
            <a:off x="8559937" y="1963399"/>
            <a:ext cx="3203511" cy="3426240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itle 7"/>
          <p:cNvSpPr txBox="1">
            <a:spLocks noGrp="1"/>
          </p:cNvSpPr>
          <p:nvPr>
            <p:ph type="ctrTitle"/>
          </p:nvPr>
        </p:nvSpPr>
        <p:spPr>
          <a:xfrm>
            <a:off x="331286" y="-526757"/>
            <a:ext cx="10363201" cy="2076451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F497D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r>
              <a:t>SMART INDIA HACKATHON 2026</a:t>
            </a:r>
          </a:p>
        </p:txBody>
      </p:sp>
      <p:sp>
        <p:nvSpPr>
          <p:cNvPr id="98" name="TextBox 9"/>
          <p:cNvSpPr txBox="1"/>
          <p:nvPr/>
        </p:nvSpPr>
        <p:spPr>
          <a:xfrm>
            <a:off x="294502" y="1214592"/>
            <a:ext cx="6908615" cy="4322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100" b="1" u="sng">
                <a:latin typeface="Calibri"/>
                <a:ea typeface="Calibri"/>
                <a:cs typeface="Calibri"/>
                <a:sym typeface="Calibri"/>
              </a:defRPr>
            </a:pPr>
            <a:r>
              <a:t>Problem Statement ID</a:t>
            </a:r>
            <a:r>
              <a:rPr b="0" u="none"/>
              <a:t> - SIH26169</a:t>
            </a:r>
          </a:p>
          <a:p>
            <a:pPr marL="285750" indent="-285750">
              <a:lnSpc>
                <a:spcPct val="200000"/>
              </a:lnSpc>
              <a:buSzPct val="100000"/>
              <a:buFont typeface="Arial"/>
              <a:buChar char="•"/>
              <a:defRPr sz="2100" b="1" u="sng">
                <a:latin typeface="Arial"/>
                <a:ea typeface="Arial"/>
                <a:cs typeface="Arial"/>
                <a:sym typeface="Arial"/>
              </a:defRPr>
            </a:pPr>
            <a:r>
              <a:t>Problem Statement Title</a:t>
            </a:r>
            <a:r>
              <a:rPr u="none"/>
              <a:t> - Development of an AI-Based Virtual Camera Tracking System for Coarse Alignment of Mobile Free Space Optical Communication (FSOC) Terminals</a:t>
            </a:r>
          </a:p>
          <a:p>
            <a:pPr marL="285750" indent="-285750">
              <a:lnSpc>
                <a:spcPct val="200000"/>
              </a:lnSpc>
              <a:buSzPct val="100000"/>
              <a:buFont typeface="Arial"/>
              <a:buChar char="•"/>
              <a:defRPr sz="2100" b="1" u="sng">
                <a:latin typeface="Arial"/>
                <a:ea typeface="Arial"/>
                <a:cs typeface="Arial"/>
                <a:sym typeface="Arial"/>
              </a:defRPr>
            </a:pPr>
            <a:r>
              <a:t>Theme</a:t>
            </a:r>
            <a:r>
              <a:rPr u="none"/>
              <a:t> - Smart Automation</a:t>
            </a:r>
          </a:p>
          <a:p>
            <a:pPr marL="285750" indent="-285750">
              <a:lnSpc>
                <a:spcPct val="200000"/>
              </a:lnSpc>
              <a:buSzPct val="100000"/>
              <a:buFont typeface="Arial"/>
              <a:buChar char="•"/>
              <a:defRPr sz="2100" b="1" u="sng">
                <a:latin typeface="Arial"/>
                <a:ea typeface="Arial"/>
                <a:cs typeface="Arial"/>
                <a:sym typeface="Arial"/>
              </a:defRPr>
            </a:pPr>
            <a:r>
              <a:t>Team ID</a:t>
            </a:r>
            <a:r>
              <a:rPr u="none"/>
              <a:t> - SIH26-A0H-T363</a:t>
            </a:r>
          </a:p>
          <a:p>
            <a:pPr marL="285750" indent="-285750">
              <a:lnSpc>
                <a:spcPct val="200000"/>
              </a:lnSpc>
              <a:buSzPct val="100000"/>
              <a:buFont typeface="Arial"/>
              <a:buChar char="•"/>
              <a:defRPr sz="2100" b="1" u="sng">
                <a:latin typeface="Arial"/>
                <a:ea typeface="Arial"/>
                <a:cs typeface="Arial"/>
                <a:sym typeface="Arial"/>
              </a:defRPr>
            </a:pPr>
            <a:r>
              <a:t>Team Name (Registered on portal)</a:t>
            </a:r>
            <a:r>
              <a:rPr u="none"/>
              <a:t> - Team Zenith</a:t>
            </a:r>
          </a:p>
        </p:txBody>
      </p:sp>
      <p:pic>
        <p:nvPicPr>
          <p:cNvPr id="99" name="Picture 1" descr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0085" y="1500"/>
            <a:ext cx="2249853" cy="106233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Footer Placeholder 6"/>
          <p:cNvSpPr txBox="1"/>
          <p:nvPr/>
        </p:nvSpPr>
        <p:spPr>
          <a:xfrm>
            <a:off x="4693920" y="6404296"/>
            <a:ext cx="3112562" cy="26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r>
              <a:t>@SIH Idea submission- Template</a:t>
            </a:r>
          </a:p>
        </p:txBody>
      </p:sp>
      <p:sp>
        <p:nvSpPr>
          <p:cNvPr id="104" name="Rectangle 8"/>
          <p:cNvSpPr/>
          <p:nvPr/>
        </p:nvSpPr>
        <p:spPr>
          <a:xfrm>
            <a:off x="-2" y="6354762"/>
            <a:ext cx="12192003" cy="503240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953735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05" name="Title 1"/>
          <p:cNvSpPr txBox="1">
            <a:spLocks noGrp="1"/>
          </p:cNvSpPr>
          <p:nvPr>
            <p:ph type="title"/>
          </p:nvPr>
        </p:nvSpPr>
        <p:spPr>
          <a:xfrm>
            <a:off x="173831" y="-210840"/>
            <a:ext cx="10972801" cy="932450"/>
          </a:xfrm>
          <a:prstGeom prst="rect">
            <a:avLst/>
          </a:prstGeom>
        </p:spPr>
        <p:txBody>
          <a:bodyPr/>
          <a:lstStyle/>
          <a:p>
            <a:pPr defTabSz="288036">
              <a:defRPr sz="2700" b="1"/>
            </a:pPr>
            <a:endParaRPr/>
          </a:p>
          <a:p>
            <a:pPr defTabSz="288036">
              <a:defRPr sz="2700" b="1"/>
            </a:pPr>
            <a:r>
              <a:t>What do we Actually propose</a:t>
            </a:r>
          </a:p>
        </p:txBody>
      </p:sp>
      <p:sp>
        <p:nvSpPr>
          <p:cNvPr id="106" name="Slide Number Placeholder 5"/>
          <p:cNvSpPr txBox="1">
            <a:spLocks noGrp="1"/>
          </p:cNvSpPr>
          <p:nvPr>
            <p:ph type="sldNum" sz="quarter" idx="4294967295"/>
          </p:nvPr>
        </p:nvSpPr>
        <p:spPr>
          <a:xfrm>
            <a:off x="11393502" y="6404295"/>
            <a:ext cx="188896" cy="269239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2</a:t>
            </a:fld>
            <a:endParaRPr/>
          </a:p>
        </p:txBody>
      </p:sp>
      <p:grpSp>
        <p:nvGrpSpPr>
          <p:cNvPr id="109" name="Oval 9"/>
          <p:cNvGrpSpPr/>
          <p:nvPr/>
        </p:nvGrpSpPr>
        <p:grpSpPr>
          <a:xfrm>
            <a:off x="329771" y="252243"/>
            <a:ext cx="1251861" cy="807339"/>
            <a:chOff x="0" y="-1"/>
            <a:chExt cx="1251860" cy="807338"/>
          </a:xfrm>
        </p:grpSpPr>
        <p:sp>
          <p:nvSpPr>
            <p:cNvPr id="107" name="Oval"/>
            <p:cNvSpPr/>
            <p:nvPr/>
          </p:nvSpPr>
          <p:spPr>
            <a:xfrm>
              <a:off x="-1" y="-2"/>
              <a:ext cx="1251861" cy="807339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108" name="Team Zenith"/>
            <p:cNvSpPr txBox="1"/>
            <p:nvPr/>
          </p:nvSpPr>
          <p:spPr>
            <a:xfrm>
              <a:off x="241749" y="91073"/>
              <a:ext cx="768360" cy="6251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t>Team Zenith</a:t>
              </a:r>
            </a:p>
          </p:txBody>
        </p:sp>
      </p:grpSp>
      <p:pic>
        <p:nvPicPr>
          <p:cNvPr id="110" name="Picture 10" descr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5" y="1500"/>
            <a:ext cx="2249853" cy="1062337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OUR SOLUTION"/>
          <p:cNvSpPr txBox="1"/>
          <p:nvPr/>
        </p:nvSpPr>
        <p:spPr>
          <a:xfrm>
            <a:off x="4408917" y="839894"/>
            <a:ext cx="1479179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u="sng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OUR SOLUTION</a:t>
            </a:r>
          </a:p>
        </p:txBody>
      </p:sp>
      <p:sp>
        <p:nvSpPr>
          <p:cNvPr id="112" name="Line"/>
          <p:cNvSpPr/>
          <p:nvPr/>
        </p:nvSpPr>
        <p:spPr>
          <a:xfrm flipV="1">
            <a:off x="3898645" y="1130485"/>
            <a:ext cx="1" cy="5181012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13" name="NARROW BEAM…"/>
          <p:cNvSpPr txBox="1"/>
          <p:nvPr/>
        </p:nvSpPr>
        <p:spPr>
          <a:xfrm>
            <a:off x="222856" y="1646596"/>
            <a:ext cx="3544020" cy="2033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33947" indent="-233947" defTabSz="457200">
              <a:spcBef>
                <a:spcPts val="1400"/>
              </a:spcBef>
              <a:buSzPct val="100000"/>
              <a:buAutoNum type="circleNumDbPlain"/>
              <a:defRPr sz="13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NARROW BEAM</a:t>
            </a:r>
          </a:p>
          <a:p>
            <a:pPr defTabSz="457200">
              <a:spcBef>
                <a:spcPts val="1200"/>
              </a:spcBef>
              <a:defRPr sz="11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Tiny target → tiny pointing error tolerance</a:t>
            </a:r>
          </a:p>
          <a:p>
            <a:pPr defTabSz="457200">
              <a:spcBef>
                <a:spcPts val="1200"/>
              </a:spcBef>
              <a:defRPr sz="1100" b="1"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defRPr sz="1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Narrow optical links require accurate pointing.</a:t>
            </a:r>
          </a:p>
        </p:txBody>
      </p:sp>
      <p:pic>
        <p:nvPicPr>
          <p:cNvPr id="114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856" y="1646596"/>
            <a:ext cx="1234051" cy="811051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WHY IS THIS HARD?"/>
          <p:cNvSpPr txBox="1"/>
          <p:nvPr/>
        </p:nvSpPr>
        <p:spPr>
          <a:xfrm>
            <a:off x="333966" y="1328560"/>
            <a:ext cx="184235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 sz="1500" b="1" i="1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WHY IS THIS HARD?</a:t>
            </a:r>
          </a:p>
        </p:txBody>
      </p:sp>
      <p:sp>
        <p:nvSpPr>
          <p:cNvPr id="116" name="② MOVING PLATFORM…"/>
          <p:cNvSpPr txBox="1"/>
          <p:nvPr/>
        </p:nvSpPr>
        <p:spPr>
          <a:xfrm>
            <a:off x="201825" y="3491027"/>
            <a:ext cx="3544021" cy="1702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457200">
              <a:spcBef>
                <a:spcPts val="1400"/>
              </a:spcBef>
              <a:defRPr sz="13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② MOVING PLATFORM</a:t>
            </a:r>
          </a:p>
          <a:p>
            <a:pPr defTabSz="457200">
              <a:spcBef>
                <a:spcPts val="1200"/>
              </a:spcBef>
              <a:defRPr sz="11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Target and camera keep moving</a:t>
            </a:r>
          </a:p>
          <a:p>
            <a: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Platform motion shifts the beacon inside the camera FOV.</a:t>
            </a:r>
          </a:p>
          <a:p>
            <a:pPr defTabSz="457200">
              <a:spcBef>
                <a:spcPts val="1200"/>
              </a:spcBef>
              <a:defRPr sz="1100" b="1">
                <a:latin typeface="Times Roman"/>
                <a:ea typeface="Times Roman"/>
                <a:cs typeface="Times Roman"/>
                <a:sym typeface="Times Roman"/>
              </a:defRPr>
            </a:pPr>
            <a:endParaRPr b="0"/>
          </a:p>
          <a:p>
            <a:pPr defTabSz="457200">
              <a:spcBef>
                <a:spcPts val="1200"/>
              </a:spcBef>
              <a:defRPr sz="1100">
                <a:latin typeface="Times Roman"/>
                <a:ea typeface="Times Roman"/>
                <a:cs typeface="Times Roman"/>
                <a:sym typeface="Times Roman"/>
              </a:defRPr>
            </a:pPr>
            <a:endParaRPr b="0"/>
          </a:p>
        </p:txBody>
      </p:sp>
      <p:sp>
        <p:nvSpPr>
          <p:cNvPr id="117" name="③ DELAY + DISTURBANCES…"/>
          <p:cNvSpPr txBox="1"/>
          <p:nvPr/>
        </p:nvSpPr>
        <p:spPr>
          <a:xfrm>
            <a:off x="187935" y="4498111"/>
            <a:ext cx="3571802" cy="2006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457200">
              <a:spcBef>
                <a:spcPts val="1400"/>
              </a:spcBef>
              <a:defRPr sz="13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③ DELAY + DISTURBANCES</a:t>
            </a:r>
          </a:p>
          <a:p>
            <a:pPr defTabSz="457200">
              <a:spcBef>
                <a:spcPts val="1200"/>
              </a:spcBef>
              <a:defRPr sz="11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Noise • jitter • haze • motion</a:t>
            </a:r>
          </a:p>
          <a:p>
            <a:pPr defTabSz="457200">
              <a:spcBef>
                <a:spcPts val="1200"/>
              </a:spcBef>
              <a:defRPr sz="1100" b="1">
                <a:latin typeface="Times Roman"/>
                <a:ea typeface="Times Roman"/>
                <a:cs typeface="Times Roman"/>
                <a:sym typeface="Times Roman"/>
              </a:defRPr>
            </a:pPr>
            <a:endParaRPr dirty="0"/>
          </a:p>
          <a:p>
            <a:pPr defTabSz="457200">
              <a:spcBef>
                <a:spcPts val="1200"/>
              </a:spcBef>
              <a:defRPr sz="1100" b="1">
                <a:latin typeface="Times Roman"/>
                <a:ea typeface="Times Roman"/>
                <a:cs typeface="Times Roman"/>
                <a:sym typeface="Times Roman"/>
              </a:defRPr>
            </a:pPr>
            <a:endParaRPr dirty="0"/>
          </a:p>
          <a:p>
            <a:pPr defTabSz="457200">
              <a:spcBef>
                <a:spcPts val="1200"/>
              </a:spcBef>
              <a:defRPr sz="1100" b="1">
                <a:latin typeface="Times Roman"/>
                <a:ea typeface="Times Roman"/>
                <a:cs typeface="Times Roman"/>
                <a:sym typeface="Times Roman"/>
              </a:defRPr>
            </a:pPr>
            <a:endParaRPr dirty="0"/>
          </a:p>
          <a:p>
            <a:pPr defTabSz="457200">
              <a:defRPr sz="1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By the time the camera reacts, the beacon may have moved.</a:t>
            </a:r>
          </a:p>
        </p:txBody>
      </p:sp>
      <p:pic>
        <p:nvPicPr>
          <p:cNvPr id="118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969" y="5029201"/>
            <a:ext cx="1792917" cy="962754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KEEP THE BEACON CENTRED DESPITE MOTION, NOISE AND DELAY"/>
          <p:cNvSpPr txBox="1"/>
          <p:nvPr/>
        </p:nvSpPr>
        <p:spPr>
          <a:xfrm>
            <a:off x="6609130" y="5982322"/>
            <a:ext cx="509830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 sz="1200" b="1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KEEP THE BEACON CENTRED DESPITE MOTION, NOISE AND DELAY</a:t>
            </a:r>
          </a:p>
        </p:txBody>
      </p:sp>
      <p:sp>
        <p:nvSpPr>
          <p:cNvPr id="120" name="Five stages"/>
          <p:cNvSpPr txBox="1"/>
          <p:nvPr/>
        </p:nvSpPr>
        <p:spPr>
          <a:xfrm>
            <a:off x="4479374" y="1341016"/>
            <a:ext cx="90556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300" b="1"/>
            </a:lvl1pPr>
          </a:lstStyle>
          <a:p>
            <a:r>
              <a:t>Five stages</a:t>
            </a:r>
          </a:p>
        </p:txBody>
      </p:sp>
      <p:sp>
        <p:nvSpPr>
          <p:cNvPr id="121" name="DETECT"/>
          <p:cNvSpPr txBox="1"/>
          <p:nvPr/>
        </p:nvSpPr>
        <p:spPr>
          <a:xfrm>
            <a:off x="4245189" y="2412975"/>
            <a:ext cx="59677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DETECT</a:t>
            </a:r>
          </a:p>
        </p:txBody>
      </p:sp>
      <p:sp>
        <p:nvSpPr>
          <p:cNvPr id="122" name="SEE"/>
          <p:cNvSpPr txBox="1"/>
          <p:nvPr/>
        </p:nvSpPr>
        <p:spPr>
          <a:xfrm>
            <a:off x="4405974" y="1810601"/>
            <a:ext cx="328800" cy="914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457200">
              <a:spcBef>
                <a:spcPts val="1400"/>
              </a:spcBef>
              <a:defRPr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SEE</a:t>
            </a:r>
          </a:p>
          <a:p>
            <a:pPr defTabSz="457200"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</p:txBody>
      </p:sp>
      <p:sp>
        <p:nvSpPr>
          <p:cNvPr id="123" name="TRACK"/>
          <p:cNvSpPr txBox="1"/>
          <p:nvPr/>
        </p:nvSpPr>
        <p:spPr>
          <a:xfrm>
            <a:off x="4305769" y="3241801"/>
            <a:ext cx="52920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TRACK</a:t>
            </a:r>
          </a:p>
        </p:txBody>
      </p:sp>
      <p:sp>
        <p:nvSpPr>
          <p:cNvPr id="124" name="PREDICT"/>
          <p:cNvSpPr txBox="1"/>
          <p:nvPr/>
        </p:nvSpPr>
        <p:spPr>
          <a:xfrm>
            <a:off x="4219702" y="3999380"/>
            <a:ext cx="6477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PREDICT</a:t>
            </a:r>
          </a:p>
        </p:txBody>
      </p:sp>
      <p:sp>
        <p:nvSpPr>
          <p:cNvPr id="125" name="POINT"/>
          <p:cNvSpPr txBox="1"/>
          <p:nvPr/>
        </p:nvSpPr>
        <p:spPr>
          <a:xfrm>
            <a:off x="4312869" y="4959703"/>
            <a:ext cx="46141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POINT</a:t>
            </a:r>
          </a:p>
        </p:txBody>
      </p:sp>
      <p:sp>
        <p:nvSpPr>
          <p:cNvPr id="126" name="Line"/>
          <p:cNvSpPr/>
          <p:nvPr/>
        </p:nvSpPr>
        <p:spPr>
          <a:xfrm>
            <a:off x="4535831" y="2022210"/>
            <a:ext cx="1" cy="355601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27" name="Line"/>
          <p:cNvSpPr/>
          <p:nvPr/>
        </p:nvSpPr>
        <p:spPr>
          <a:xfrm>
            <a:off x="4543577" y="2619649"/>
            <a:ext cx="1" cy="570684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28" name="Line"/>
          <p:cNvSpPr/>
          <p:nvPr/>
        </p:nvSpPr>
        <p:spPr>
          <a:xfrm>
            <a:off x="4543577" y="3452875"/>
            <a:ext cx="1" cy="503240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29" name="Line"/>
          <p:cNvSpPr/>
          <p:nvPr/>
        </p:nvSpPr>
        <p:spPr>
          <a:xfrm>
            <a:off x="4543577" y="4356369"/>
            <a:ext cx="1" cy="570684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30" name="Camera observes beacon"/>
          <p:cNvSpPr txBox="1"/>
          <p:nvPr/>
        </p:nvSpPr>
        <p:spPr>
          <a:xfrm>
            <a:off x="4769629" y="1871930"/>
            <a:ext cx="1077098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Camera observes beacon</a:t>
            </a:r>
          </a:p>
        </p:txBody>
      </p:sp>
      <p:sp>
        <p:nvSpPr>
          <p:cNvPr id="131" name="Find beacon"/>
          <p:cNvSpPr txBox="1"/>
          <p:nvPr/>
        </p:nvSpPr>
        <p:spPr>
          <a:xfrm>
            <a:off x="4927264" y="2412975"/>
            <a:ext cx="76182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Find beacon</a:t>
            </a:r>
          </a:p>
        </p:txBody>
      </p:sp>
      <p:sp>
        <p:nvSpPr>
          <p:cNvPr id="132" name="Estimate reliable position"/>
          <p:cNvSpPr txBox="1"/>
          <p:nvPr/>
        </p:nvSpPr>
        <p:spPr>
          <a:xfrm>
            <a:off x="4923860" y="3260202"/>
            <a:ext cx="12426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Estimate reliable position</a:t>
            </a:r>
          </a:p>
        </p:txBody>
      </p:sp>
      <p:sp>
        <p:nvSpPr>
          <p:cNvPr id="133" name="Compensate delay"/>
          <p:cNvSpPr txBox="1"/>
          <p:nvPr/>
        </p:nvSpPr>
        <p:spPr>
          <a:xfrm>
            <a:off x="4884299" y="3990672"/>
            <a:ext cx="113419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Compensate delay</a:t>
            </a:r>
          </a:p>
        </p:txBody>
      </p:sp>
      <p:sp>
        <p:nvSpPr>
          <p:cNvPr id="134" name="Move camera toward future position"/>
          <p:cNvSpPr txBox="1"/>
          <p:nvPr/>
        </p:nvSpPr>
        <p:spPr>
          <a:xfrm>
            <a:off x="4805597" y="4959703"/>
            <a:ext cx="1479180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Move camera toward future position</a:t>
            </a:r>
          </a:p>
        </p:txBody>
      </p:sp>
      <p:sp>
        <p:nvSpPr>
          <p:cNvPr id="135" name="TextBox 15404"/>
          <p:cNvSpPr txBox="1"/>
          <p:nvPr/>
        </p:nvSpPr>
        <p:spPr>
          <a:xfrm>
            <a:off x="7078023" y="1266988"/>
            <a:ext cx="3657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000" b="1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WHAT THE CAMERA SEES</a:t>
            </a:r>
          </a:p>
        </p:txBody>
      </p:sp>
      <p:sp>
        <p:nvSpPr>
          <p:cNvPr id="136" name="Rounded Rectangle 15405"/>
          <p:cNvSpPr/>
          <p:nvPr/>
        </p:nvSpPr>
        <p:spPr>
          <a:xfrm>
            <a:off x="7078023" y="1541310"/>
            <a:ext cx="3200401" cy="1965961"/>
          </a:xfrm>
          <a:prstGeom prst="roundRect">
            <a:avLst>
              <a:gd name="adj" fmla="val 8000"/>
            </a:avLst>
          </a:prstGeom>
          <a:solidFill>
            <a:srgbClr val="071120"/>
          </a:solidFill>
          <a:ln w="12700">
            <a:solidFill>
              <a:srgbClr val="C9D3E0"/>
            </a:solidFill>
          </a:ln>
        </p:spPr>
        <p:txBody>
          <a:bodyPr lIns="45719" rIns="45719" anchor="ctr"/>
          <a:lstStyle/>
          <a:p>
            <a:pPr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37" name="Connector 15406"/>
          <p:cNvSpPr/>
          <p:nvPr/>
        </p:nvSpPr>
        <p:spPr>
          <a:xfrm>
            <a:off x="8477055" y="2524290"/>
            <a:ext cx="402337" cy="1"/>
          </a:xfrm>
          <a:prstGeom prst="line">
            <a:avLst/>
          </a:prstGeom>
          <a:ln>
            <a:solidFill>
              <a:srgbClr val="7F8FA6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457200">
              <a:defRPr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38" name="Connector 15407"/>
          <p:cNvSpPr/>
          <p:nvPr/>
        </p:nvSpPr>
        <p:spPr>
          <a:xfrm>
            <a:off x="8678223" y="2323122"/>
            <a:ext cx="1" cy="402337"/>
          </a:xfrm>
          <a:prstGeom prst="line">
            <a:avLst/>
          </a:prstGeom>
          <a:ln>
            <a:solidFill>
              <a:srgbClr val="7F8FA6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457200">
              <a:defRPr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39" name="Oval 15408"/>
          <p:cNvSpPr/>
          <p:nvPr/>
        </p:nvSpPr>
        <p:spPr>
          <a:xfrm>
            <a:off x="9162855" y="2078976"/>
            <a:ext cx="182881" cy="182881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 lIns="45719" rIns="45719" anchor="ctr"/>
          <a:lstStyle/>
          <a:p>
            <a:pPr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40" name="Oval 15409"/>
          <p:cNvSpPr/>
          <p:nvPr/>
        </p:nvSpPr>
        <p:spPr>
          <a:xfrm>
            <a:off x="9098847" y="2014969"/>
            <a:ext cx="310897" cy="310897"/>
          </a:xfrm>
          <a:prstGeom prst="ellipse">
            <a:avLst/>
          </a:prstGeom>
          <a:ln w="19050">
            <a:solidFill>
              <a:srgbClr val="2E8B57"/>
            </a:solidFill>
          </a:ln>
        </p:spPr>
        <p:txBody>
          <a:bodyPr lIns="45719" rIns="45719" anchor="ctr"/>
          <a:lstStyle/>
          <a:p>
            <a:pPr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41" name="Oval 15410"/>
          <p:cNvSpPr/>
          <p:nvPr/>
        </p:nvSpPr>
        <p:spPr>
          <a:xfrm>
            <a:off x="8952543" y="2360612"/>
            <a:ext cx="91441" cy="91441"/>
          </a:xfrm>
          <a:prstGeom prst="ellipse">
            <a:avLst/>
          </a:prstGeom>
          <a:solidFill>
            <a:srgbClr val="0F9AA4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42" name="Cross 15411"/>
          <p:cNvSpPr/>
          <p:nvPr/>
        </p:nvSpPr>
        <p:spPr>
          <a:xfrm>
            <a:off x="9556047" y="2599270"/>
            <a:ext cx="164593" cy="164593"/>
          </a:xfrm>
          <a:prstGeom prst="plus">
            <a:avLst>
              <a:gd name="adj" fmla="val 25000"/>
            </a:avLst>
          </a:prstGeom>
          <a:solidFill>
            <a:srgbClr val="7030A0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43" name="Connector 15412"/>
          <p:cNvSpPr/>
          <p:nvPr/>
        </p:nvSpPr>
        <p:spPr>
          <a:xfrm>
            <a:off x="8678223" y="2524289"/>
            <a:ext cx="960121" cy="157277"/>
          </a:xfrm>
          <a:prstGeom prst="line">
            <a:avLst/>
          </a:prstGeom>
          <a:ln w="31750">
            <a:solidFill>
              <a:srgbClr val="ED7D31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457200">
              <a:defRPr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44" name="Oval 15413"/>
          <p:cNvSpPr/>
          <p:nvPr/>
        </p:nvSpPr>
        <p:spPr>
          <a:xfrm>
            <a:off x="10461303" y="1651037"/>
            <a:ext cx="118873" cy="118873"/>
          </a:xfrm>
          <a:prstGeom prst="ellipse">
            <a:avLst/>
          </a:prstGeom>
          <a:solidFill>
            <a:srgbClr val="FFFFFF"/>
          </a:solidFill>
          <a:ln>
            <a:solidFill>
              <a:srgbClr val="7F8FA6"/>
            </a:solidFill>
          </a:ln>
        </p:spPr>
        <p:txBody>
          <a:bodyPr lIns="45719" rIns="45719" anchor="ctr"/>
          <a:lstStyle/>
          <a:p>
            <a:pPr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45" name="TextBox 15414"/>
          <p:cNvSpPr txBox="1"/>
          <p:nvPr/>
        </p:nvSpPr>
        <p:spPr>
          <a:xfrm>
            <a:off x="10662469" y="1596173"/>
            <a:ext cx="2560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Beacon (true target)</a:t>
            </a:r>
          </a:p>
        </p:txBody>
      </p:sp>
      <p:sp>
        <p:nvSpPr>
          <p:cNvPr id="146" name="Oval 15415"/>
          <p:cNvSpPr/>
          <p:nvPr/>
        </p:nvSpPr>
        <p:spPr>
          <a:xfrm>
            <a:off x="10461303" y="1925356"/>
            <a:ext cx="118873" cy="118873"/>
          </a:xfrm>
          <a:prstGeom prst="ellipse">
            <a:avLst/>
          </a:prstGeom>
          <a:solidFill>
            <a:srgbClr val="2E8B57"/>
          </a:solidFill>
          <a:ln>
            <a:solidFill>
              <a:srgbClr val="7F8FA6"/>
            </a:solidFill>
          </a:ln>
        </p:spPr>
        <p:txBody>
          <a:bodyPr lIns="45719" rIns="45719" anchor="ctr"/>
          <a:lstStyle/>
          <a:p>
            <a:pPr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47" name="TextBox 15416"/>
          <p:cNvSpPr txBox="1"/>
          <p:nvPr/>
        </p:nvSpPr>
        <p:spPr>
          <a:xfrm>
            <a:off x="10662469" y="1870493"/>
            <a:ext cx="2560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Detected candidate (M2)</a:t>
            </a:r>
          </a:p>
        </p:txBody>
      </p:sp>
      <p:sp>
        <p:nvSpPr>
          <p:cNvPr id="148" name="Oval 15417"/>
          <p:cNvSpPr/>
          <p:nvPr/>
        </p:nvSpPr>
        <p:spPr>
          <a:xfrm>
            <a:off x="10461303" y="2199676"/>
            <a:ext cx="118873" cy="118873"/>
          </a:xfrm>
          <a:prstGeom prst="ellipse">
            <a:avLst/>
          </a:prstGeom>
          <a:solidFill>
            <a:srgbClr val="0F9AA4"/>
          </a:solidFill>
          <a:ln>
            <a:solidFill>
              <a:srgbClr val="7F8FA6"/>
            </a:solidFill>
          </a:ln>
        </p:spPr>
        <p:txBody>
          <a:bodyPr lIns="45719" rIns="45719" anchor="ctr"/>
          <a:lstStyle/>
          <a:p>
            <a:pPr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49" name="TextBox 15418"/>
          <p:cNvSpPr txBox="1"/>
          <p:nvPr/>
        </p:nvSpPr>
        <p:spPr>
          <a:xfrm>
            <a:off x="10662469" y="2144814"/>
            <a:ext cx="2560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Tracked / refined centroid (M3)</a:t>
            </a:r>
          </a:p>
        </p:txBody>
      </p:sp>
      <p:sp>
        <p:nvSpPr>
          <p:cNvPr id="150" name="Oval 15419"/>
          <p:cNvSpPr/>
          <p:nvPr/>
        </p:nvSpPr>
        <p:spPr>
          <a:xfrm>
            <a:off x="10461303" y="2473997"/>
            <a:ext cx="118873" cy="118873"/>
          </a:xfrm>
          <a:prstGeom prst="ellipse">
            <a:avLst/>
          </a:prstGeom>
          <a:solidFill>
            <a:srgbClr val="7030A0"/>
          </a:solidFill>
          <a:ln>
            <a:solidFill>
              <a:srgbClr val="7F8FA6"/>
            </a:solidFill>
          </a:ln>
        </p:spPr>
        <p:txBody>
          <a:bodyPr lIns="45719" rIns="45719" anchor="ctr"/>
          <a:lstStyle/>
          <a:p>
            <a:pPr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51" name="TextBox 15420"/>
          <p:cNvSpPr txBox="1"/>
          <p:nvPr/>
        </p:nvSpPr>
        <p:spPr>
          <a:xfrm>
            <a:off x="10662469" y="2419132"/>
            <a:ext cx="2560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Predicted future position (M4)</a:t>
            </a:r>
          </a:p>
        </p:txBody>
      </p:sp>
      <p:sp>
        <p:nvSpPr>
          <p:cNvPr id="152" name="Oval 15421"/>
          <p:cNvSpPr/>
          <p:nvPr/>
        </p:nvSpPr>
        <p:spPr>
          <a:xfrm>
            <a:off x="10461303" y="2748317"/>
            <a:ext cx="118873" cy="118873"/>
          </a:xfrm>
          <a:prstGeom prst="ellipse">
            <a:avLst/>
          </a:prstGeom>
          <a:solidFill>
            <a:srgbClr val="ED7D31"/>
          </a:solidFill>
          <a:ln>
            <a:solidFill>
              <a:srgbClr val="7F8FA6"/>
            </a:solidFill>
          </a:ln>
        </p:spPr>
        <p:txBody>
          <a:bodyPr lIns="45719" rIns="45719" anchor="ctr"/>
          <a:lstStyle/>
          <a:p>
            <a:pPr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53" name="TextBox 15422"/>
          <p:cNvSpPr txBox="1"/>
          <p:nvPr/>
        </p:nvSpPr>
        <p:spPr>
          <a:xfrm>
            <a:off x="10662469" y="2693453"/>
            <a:ext cx="2560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Pointing error → correction (M5)</a:t>
            </a:r>
          </a:p>
        </p:txBody>
      </p:sp>
      <p:sp>
        <p:nvSpPr>
          <p:cNvPr id="154" name="Continuous observation → prediction → correction"/>
          <p:cNvSpPr txBox="1"/>
          <p:nvPr/>
        </p:nvSpPr>
        <p:spPr>
          <a:xfrm>
            <a:off x="7328103" y="3626410"/>
            <a:ext cx="3157440" cy="189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Continuous observation → prediction → correction</a:t>
            </a:r>
          </a:p>
        </p:txBody>
      </p:sp>
      <p:sp>
        <p:nvSpPr>
          <p:cNvPr id="155" name="KEY FEATURES…"/>
          <p:cNvSpPr txBox="1"/>
          <p:nvPr/>
        </p:nvSpPr>
        <p:spPr>
          <a:xfrm>
            <a:off x="6593134" y="3821849"/>
            <a:ext cx="2416051" cy="1110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457200">
              <a:spcBef>
                <a:spcPts val="1400"/>
              </a:spcBef>
              <a:defRPr sz="14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KEY FEATURES</a:t>
            </a:r>
          </a:p>
          <a:p>
            <a:pPr defTabSz="457200"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Hardware-independent simulation</a:t>
            </a:r>
            <a:br/>
            <a:r>
              <a:t>→ Test without physical PTZ hardware</a:t>
            </a:r>
          </a:p>
        </p:txBody>
      </p:sp>
      <p:sp>
        <p:nvSpPr>
          <p:cNvPr id="156" name="Delay-aware prediction…"/>
          <p:cNvSpPr txBox="1"/>
          <p:nvPr/>
        </p:nvSpPr>
        <p:spPr>
          <a:xfrm>
            <a:off x="9229908" y="4243656"/>
            <a:ext cx="2942382" cy="366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457200">
              <a:defRPr sz="12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Delay-aware prediction</a:t>
            </a:r>
            <a:endParaRPr b="0"/>
          </a:p>
          <a:p>
            <a: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→ Compensate for processing + camera latency</a:t>
            </a:r>
          </a:p>
        </p:txBody>
      </p:sp>
      <p:sp>
        <p:nvSpPr>
          <p:cNvPr id="157" name="Disturbance-aware tracking…"/>
          <p:cNvSpPr txBox="1"/>
          <p:nvPr/>
        </p:nvSpPr>
        <p:spPr>
          <a:xfrm>
            <a:off x="6560225" y="4865122"/>
            <a:ext cx="3008909" cy="366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457200">
              <a:defRPr sz="12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Disturbance-aware tracking</a:t>
            </a:r>
            <a:endParaRPr b="0"/>
          </a:p>
          <a:p>
            <a: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→ Noise • Jitter • Platform Motion • Atmosphere</a:t>
            </a:r>
          </a:p>
        </p:txBody>
      </p:sp>
      <p:sp>
        <p:nvSpPr>
          <p:cNvPr id="158" name="Closed-loop control → Continuously updates pan/tilt from predicted position"/>
          <p:cNvSpPr txBox="1"/>
          <p:nvPr/>
        </p:nvSpPr>
        <p:spPr>
          <a:xfrm>
            <a:off x="6573455" y="5392990"/>
            <a:ext cx="3466704" cy="7036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Closed-loop control</a:t>
            </a:r>
            <a:br/>
            <a:r>
              <a:t>→ Continuously updates pan/tilt from predicted position</a:t>
            </a:r>
          </a:p>
        </p:txBody>
      </p:sp>
      <p:sp>
        <p:nvSpPr>
          <p:cNvPr id="159" name="Line"/>
          <p:cNvSpPr/>
          <p:nvPr/>
        </p:nvSpPr>
        <p:spPr>
          <a:xfrm flipV="1">
            <a:off x="6368250" y="1125620"/>
            <a:ext cx="1" cy="5190742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Footer Placeholder 6"/>
          <p:cNvSpPr txBox="1"/>
          <p:nvPr/>
        </p:nvSpPr>
        <p:spPr>
          <a:xfrm>
            <a:off x="4693920" y="6404296"/>
            <a:ext cx="3112562" cy="26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r>
              <a:t>@SIH Idea submission- Template</a:t>
            </a:r>
          </a:p>
        </p:txBody>
      </p:sp>
      <p:sp>
        <p:nvSpPr>
          <p:cNvPr id="164" name="Rectangle 9"/>
          <p:cNvSpPr/>
          <p:nvPr/>
        </p:nvSpPr>
        <p:spPr>
          <a:xfrm>
            <a:off x="-2" y="6354762"/>
            <a:ext cx="12192003" cy="503240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953735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65" name="Title 1"/>
          <p:cNvSpPr txBox="1">
            <a:spLocks noGrp="1"/>
          </p:cNvSpPr>
          <p:nvPr>
            <p:ph type="title"/>
          </p:nvPr>
        </p:nvSpPr>
        <p:spPr>
          <a:xfrm>
            <a:off x="609600" y="-75166"/>
            <a:ext cx="10972800" cy="1143001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TECHNICAL APPROACH</a:t>
            </a:r>
          </a:p>
        </p:txBody>
      </p:sp>
      <p:sp>
        <p:nvSpPr>
          <p:cNvPr id="166" name="Slide Number Placeholder 5"/>
          <p:cNvSpPr txBox="1">
            <a:spLocks noGrp="1"/>
          </p:cNvSpPr>
          <p:nvPr>
            <p:ph type="sldNum" sz="quarter" idx="4294967295"/>
          </p:nvPr>
        </p:nvSpPr>
        <p:spPr>
          <a:xfrm>
            <a:off x="11393501" y="6404295"/>
            <a:ext cx="188897" cy="269239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3</a:t>
            </a:fld>
            <a:endParaRPr/>
          </a:p>
        </p:txBody>
      </p:sp>
      <p:grpSp>
        <p:nvGrpSpPr>
          <p:cNvPr id="169" name="Oval 10"/>
          <p:cNvGrpSpPr/>
          <p:nvPr/>
        </p:nvGrpSpPr>
        <p:grpSpPr>
          <a:xfrm>
            <a:off x="237670" y="128999"/>
            <a:ext cx="1251861" cy="807340"/>
            <a:chOff x="0" y="-1"/>
            <a:chExt cx="1251860" cy="807338"/>
          </a:xfrm>
        </p:grpSpPr>
        <p:sp>
          <p:nvSpPr>
            <p:cNvPr id="167" name="Oval"/>
            <p:cNvSpPr/>
            <p:nvPr/>
          </p:nvSpPr>
          <p:spPr>
            <a:xfrm>
              <a:off x="-1" y="-2"/>
              <a:ext cx="1251861" cy="807339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168" name="Team Zenith"/>
            <p:cNvSpPr txBox="1"/>
            <p:nvPr/>
          </p:nvSpPr>
          <p:spPr>
            <a:xfrm>
              <a:off x="241749" y="91073"/>
              <a:ext cx="768360" cy="6251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t>Team Zenith</a:t>
              </a:r>
            </a:p>
          </p:txBody>
        </p:sp>
      </p:grpSp>
      <p:pic>
        <p:nvPicPr>
          <p:cNvPr id="170" name="Picture 11" descr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5" y="1500"/>
            <a:ext cx="2249853" cy="1062337"/>
          </a:xfrm>
          <a:prstGeom prst="rect">
            <a:avLst/>
          </a:prstGeom>
          <a:ln w="12700">
            <a:miter lim="400000"/>
          </a:ln>
        </p:spPr>
      </p:pic>
      <p:sp>
        <p:nvSpPr>
          <p:cNvPr id="171" name="ONE CLOSED-LOOP SYSTEM"/>
          <p:cNvSpPr txBox="1"/>
          <p:nvPr/>
        </p:nvSpPr>
        <p:spPr>
          <a:xfrm>
            <a:off x="4323990" y="913688"/>
            <a:ext cx="35440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ONE CLOSED-LOOP SYSTEM</a:t>
            </a:r>
          </a:p>
        </p:txBody>
      </p:sp>
      <p:sp>
        <p:nvSpPr>
          <p:cNvPr id="172" name="Rounded Rectangle 15362"/>
          <p:cNvSpPr/>
          <p:nvPr/>
        </p:nvSpPr>
        <p:spPr>
          <a:xfrm>
            <a:off x="4070732" y="1405157"/>
            <a:ext cx="7772401" cy="2057401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15875">
            <a:solidFill>
              <a:srgbClr val="0F9AA4"/>
            </a:solidFill>
          </a:ln>
        </p:spPr>
        <p:txBody>
          <a:bodyPr lIns="45719" rIns="45719" anchor="ctr"/>
          <a:lstStyle/>
          <a:p>
            <a:pPr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73" name="Rectangle 15363"/>
          <p:cNvSpPr/>
          <p:nvPr/>
        </p:nvSpPr>
        <p:spPr>
          <a:xfrm>
            <a:off x="4070732" y="1405157"/>
            <a:ext cx="7772401" cy="310897"/>
          </a:xfrm>
          <a:prstGeom prst="rect">
            <a:avLst/>
          </a:prstGeom>
          <a:solidFill>
            <a:schemeClr val="accent1"/>
          </a:solidFill>
          <a:ln w="15875">
            <a:solidFill>
              <a:srgbClr val="0F9AA4"/>
            </a:solidFill>
          </a:ln>
        </p:spPr>
        <p:txBody>
          <a:bodyPr lIns="45719" rIns="45719" anchor="ctr"/>
          <a:lstStyle/>
          <a:p>
            <a:pPr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74" name="TextBox 15364"/>
          <p:cNvSpPr txBox="1"/>
          <p:nvPr/>
        </p:nvSpPr>
        <p:spPr>
          <a:xfrm>
            <a:off x="4180460" y="1493472"/>
            <a:ext cx="7552944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457200">
              <a:defRPr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OPERATIONAL LOOP</a:t>
            </a:r>
          </a:p>
        </p:txBody>
      </p:sp>
      <p:sp>
        <p:nvSpPr>
          <p:cNvPr id="175" name="Rounded Rectangle 15365"/>
          <p:cNvSpPr/>
          <p:nvPr/>
        </p:nvSpPr>
        <p:spPr>
          <a:xfrm>
            <a:off x="4253612" y="1935509"/>
            <a:ext cx="1280161" cy="74980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 lIns="45719" rIns="45719" anchor="ctr"/>
          <a:lstStyle/>
          <a:p>
            <a:pPr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76" name="TextBox 15366"/>
          <p:cNvSpPr txBox="1"/>
          <p:nvPr/>
        </p:nvSpPr>
        <p:spPr>
          <a:xfrm>
            <a:off x="4253612" y="1999518"/>
            <a:ext cx="128016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1200" b="1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M1</a:t>
            </a:r>
          </a:p>
        </p:txBody>
      </p:sp>
      <p:sp>
        <p:nvSpPr>
          <p:cNvPr id="177" name="TextBox 15367"/>
          <p:cNvSpPr txBox="1"/>
          <p:nvPr/>
        </p:nvSpPr>
        <p:spPr>
          <a:xfrm>
            <a:off x="4253612" y="2282981"/>
            <a:ext cx="1280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Simulation</a:t>
            </a:r>
          </a:p>
        </p:txBody>
      </p:sp>
      <p:sp>
        <p:nvSpPr>
          <p:cNvPr id="178" name="Right Arrow 15368"/>
          <p:cNvSpPr/>
          <p:nvPr/>
        </p:nvSpPr>
        <p:spPr>
          <a:xfrm>
            <a:off x="5542916" y="2246405"/>
            <a:ext cx="109729" cy="12801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8FA6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79" name="Rounded Rectangle 15369"/>
          <p:cNvSpPr/>
          <p:nvPr/>
        </p:nvSpPr>
        <p:spPr>
          <a:xfrm>
            <a:off x="5661788" y="1935509"/>
            <a:ext cx="1280161" cy="74980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E8B57"/>
            </a:solidFill>
          </a:ln>
        </p:spPr>
        <p:txBody>
          <a:bodyPr lIns="45719" rIns="45719" anchor="ctr"/>
          <a:lstStyle/>
          <a:p>
            <a:pPr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80" name="TextBox 15370"/>
          <p:cNvSpPr txBox="1"/>
          <p:nvPr/>
        </p:nvSpPr>
        <p:spPr>
          <a:xfrm>
            <a:off x="5661788" y="1999518"/>
            <a:ext cx="128016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1200" b="1">
                <a:solidFill>
                  <a:srgbClr val="2E8B57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M2</a:t>
            </a:r>
          </a:p>
        </p:txBody>
      </p:sp>
      <p:sp>
        <p:nvSpPr>
          <p:cNvPr id="181" name="TextBox 15371"/>
          <p:cNvSpPr txBox="1"/>
          <p:nvPr/>
        </p:nvSpPr>
        <p:spPr>
          <a:xfrm>
            <a:off x="5661788" y="2282981"/>
            <a:ext cx="1280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Detection</a:t>
            </a:r>
          </a:p>
        </p:txBody>
      </p:sp>
      <p:sp>
        <p:nvSpPr>
          <p:cNvPr id="182" name="Right Arrow 15372"/>
          <p:cNvSpPr/>
          <p:nvPr/>
        </p:nvSpPr>
        <p:spPr>
          <a:xfrm>
            <a:off x="6951091" y="2246405"/>
            <a:ext cx="109729" cy="12801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8FA6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83" name="Rounded Rectangle 15373"/>
          <p:cNvSpPr/>
          <p:nvPr/>
        </p:nvSpPr>
        <p:spPr>
          <a:xfrm>
            <a:off x="7069964" y="1935509"/>
            <a:ext cx="1280161" cy="74980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F9AA4"/>
            </a:solidFill>
          </a:ln>
        </p:spPr>
        <p:txBody>
          <a:bodyPr lIns="45719" rIns="45719" anchor="ctr"/>
          <a:lstStyle/>
          <a:p>
            <a:pPr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84" name="TextBox 15374"/>
          <p:cNvSpPr txBox="1"/>
          <p:nvPr/>
        </p:nvSpPr>
        <p:spPr>
          <a:xfrm>
            <a:off x="7069964" y="1999518"/>
            <a:ext cx="128016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1200" b="1">
                <a:solidFill>
                  <a:srgbClr val="0F9AA4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M3</a:t>
            </a:r>
          </a:p>
        </p:txBody>
      </p:sp>
      <p:sp>
        <p:nvSpPr>
          <p:cNvPr id="185" name="TextBox 15375"/>
          <p:cNvSpPr txBox="1"/>
          <p:nvPr/>
        </p:nvSpPr>
        <p:spPr>
          <a:xfrm>
            <a:off x="7069964" y="2282981"/>
            <a:ext cx="1280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Tracking</a:t>
            </a:r>
          </a:p>
        </p:txBody>
      </p:sp>
      <p:sp>
        <p:nvSpPr>
          <p:cNvPr id="186" name="Right Arrow 15376"/>
          <p:cNvSpPr/>
          <p:nvPr/>
        </p:nvSpPr>
        <p:spPr>
          <a:xfrm>
            <a:off x="8359267" y="2246405"/>
            <a:ext cx="109729" cy="12801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8FA6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87" name="Rounded Rectangle 15377"/>
          <p:cNvSpPr/>
          <p:nvPr/>
        </p:nvSpPr>
        <p:spPr>
          <a:xfrm>
            <a:off x="8478140" y="1935509"/>
            <a:ext cx="1280161" cy="74980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7030A0"/>
            </a:solidFill>
          </a:ln>
        </p:spPr>
        <p:txBody>
          <a:bodyPr lIns="45719" rIns="45719" anchor="ctr"/>
          <a:lstStyle/>
          <a:p>
            <a:pPr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88" name="TextBox 15378"/>
          <p:cNvSpPr txBox="1"/>
          <p:nvPr/>
        </p:nvSpPr>
        <p:spPr>
          <a:xfrm>
            <a:off x="8478140" y="1999518"/>
            <a:ext cx="128016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1200" b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M4</a:t>
            </a:r>
          </a:p>
        </p:txBody>
      </p:sp>
      <p:sp>
        <p:nvSpPr>
          <p:cNvPr id="189" name="TextBox 15379"/>
          <p:cNvSpPr txBox="1"/>
          <p:nvPr/>
        </p:nvSpPr>
        <p:spPr>
          <a:xfrm>
            <a:off x="8478140" y="2282981"/>
            <a:ext cx="1280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Prediction</a:t>
            </a:r>
          </a:p>
        </p:txBody>
      </p:sp>
      <p:sp>
        <p:nvSpPr>
          <p:cNvPr id="190" name="Right Arrow 15380"/>
          <p:cNvSpPr/>
          <p:nvPr/>
        </p:nvSpPr>
        <p:spPr>
          <a:xfrm>
            <a:off x="9767444" y="2246405"/>
            <a:ext cx="109729" cy="12801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8FA6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1" name="Rounded Rectangle 15381"/>
          <p:cNvSpPr/>
          <p:nvPr/>
        </p:nvSpPr>
        <p:spPr>
          <a:xfrm>
            <a:off x="9886316" y="1935509"/>
            <a:ext cx="1280161" cy="74980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txBody>
          <a:bodyPr lIns="45719" rIns="45719" anchor="ctr"/>
          <a:lstStyle/>
          <a:p>
            <a:pPr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2" name="TextBox 15382"/>
          <p:cNvSpPr txBox="1"/>
          <p:nvPr/>
        </p:nvSpPr>
        <p:spPr>
          <a:xfrm>
            <a:off x="9886316" y="1999518"/>
            <a:ext cx="128016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1200" b="1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M5</a:t>
            </a:r>
          </a:p>
        </p:txBody>
      </p:sp>
      <p:sp>
        <p:nvSpPr>
          <p:cNvPr id="193" name="TextBox 15383"/>
          <p:cNvSpPr txBox="1"/>
          <p:nvPr/>
        </p:nvSpPr>
        <p:spPr>
          <a:xfrm>
            <a:off x="9886316" y="2282981"/>
            <a:ext cx="1280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Control</a:t>
            </a:r>
          </a:p>
        </p:txBody>
      </p:sp>
      <p:sp>
        <p:nvSpPr>
          <p:cNvPr id="194" name="Connector 15384"/>
          <p:cNvSpPr/>
          <p:nvPr/>
        </p:nvSpPr>
        <p:spPr>
          <a:xfrm>
            <a:off x="10526397" y="2685318"/>
            <a:ext cx="1" cy="274321"/>
          </a:xfrm>
          <a:prstGeom prst="line">
            <a:avLst/>
          </a:prstGeom>
          <a:ln w="19050">
            <a:solidFill>
              <a:srgbClr val="ED7D31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457200">
              <a:defRPr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5" name="Connector 15385"/>
          <p:cNvSpPr/>
          <p:nvPr/>
        </p:nvSpPr>
        <p:spPr>
          <a:xfrm>
            <a:off x="4893692" y="2959637"/>
            <a:ext cx="5632705" cy="1"/>
          </a:xfrm>
          <a:prstGeom prst="line">
            <a:avLst/>
          </a:prstGeom>
          <a:ln w="19050">
            <a:solidFill>
              <a:srgbClr val="ED7D31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457200">
              <a:defRPr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6" name="Connector 15386"/>
          <p:cNvSpPr/>
          <p:nvPr/>
        </p:nvSpPr>
        <p:spPr>
          <a:xfrm>
            <a:off x="4893692" y="2804189"/>
            <a:ext cx="1" cy="155449"/>
          </a:xfrm>
          <a:prstGeom prst="line">
            <a:avLst/>
          </a:prstGeom>
          <a:ln w="19050">
            <a:solidFill>
              <a:srgbClr val="ED7D31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457200">
              <a:defRPr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7" name="Up Arrow 15387"/>
          <p:cNvSpPr/>
          <p:nvPr/>
        </p:nvSpPr>
        <p:spPr>
          <a:xfrm>
            <a:off x="4829684" y="2694461"/>
            <a:ext cx="128017" cy="128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0"/>
                </a:lnTo>
                <a:lnTo>
                  <a:pt x="21600" y="10800"/>
                </a:lnTo>
                <a:lnTo>
                  <a:pt x="16200" y="10800"/>
                </a:lnTo>
                <a:lnTo>
                  <a:pt x="16200" y="21600"/>
                </a:lnTo>
                <a:lnTo>
                  <a:pt x="540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ED7D31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8" name="TextBox 15388"/>
          <p:cNvSpPr txBox="1"/>
          <p:nvPr/>
        </p:nvSpPr>
        <p:spPr>
          <a:xfrm>
            <a:off x="6373055" y="3065224"/>
            <a:ext cx="2508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900" i="1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pan/tilt command → M1 moves camera → next frame</a:t>
            </a:r>
          </a:p>
        </p:txBody>
      </p:sp>
      <p:sp>
        <p:nvSpPr>
          <p:cNvPr id="199" name="Closed-Loop Adaptive Beacon Tracking &amp; Coarse Pointing  —  keeping the partner terminal's beacon inside the camera FOV, every frame"/>
          <p:cNvSpPr txBox="1"/>
          <p:nvPr/>
        </p:nvSpPr>
        <p:spPr>
          <a:xfrm>
            <a:off x="4226363" y="3502735"/>
            <a:ext cx="4047676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100" i="1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Closed-Loop Adaptive Beacon Tracking &amp; Coarse Pointing  —  keeping the partner terminal's beacon inside the camera FOV, every frame</a:t>
            </a:r>
          </a:p>
        </p:txBody>
      </p:sp>
      <p:sp>
        <p:nvSpPr>
          <p:cNvPr id="200" name="Rounded Rectangle 15389"/>
          <p:cNvSpPr/>
          <p:nvPr/>
        </p:nvSpPr>
        <p:spPr>
          <a:xfrm>
            <a:off x="8310189" y="3746029"/>
            <a:ext cx="3611881" cy="2057401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19050">
            <a:solidFill>
              <a:srgbClr val="BF9000"/>
            </a:solidFill>
            <a:prstDash val="dash"/>
          </a:ln>
        </p:spPr>
        <p:txBody>
          <a:bodyPr lIns="45719" rIns="45719" anchor="ctr"/>
          <a:lstStyle/>
          <a:p>
            <a:pPr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01" name="Rectangle 15390"/>
          <p:cNvSpPr/>
          <p:nvPr/>
        </p:nvSpPr>
        <p:spPr>
          <a:xfrm>
            <a:off x="8310189" y="3746029"/>
            <a:ext cx="3611881" cy="310897"/>
          </a:xfrm>
          <a:prstGeom prst="rect">
            <a:avLst/>
          </a:prstGeom>
          <a:solidFill>
            <a:srgbClr val="BF9000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02" name="TextBox 15391"/>
          <p:cNvSpPr txBox="1"/>
          <p:nvPr/>
        </p:nvSpPr>
        <p:spPr>
          <a:xfrm>
            <a:off x="8419916" y="3834343"/>
            <a:ext cx="3392425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457200">
              <a:defRPr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VALIDATION / GROUND-TRUTH</a:t>
            </a:r>
          </a:p>
        </p:txBody>
      </p:sp>
      <p:sp>
        <p:nvSpPr>
          <p:cNvPr id="203" name="Rounded Rectangle 15392"/>
          <p:cNvSpPr/>
          <p:nvPr/>
        </p:nvSpPr>
        <p:spPr>
          <a:xfrm>
            <a:off x="8474781" y="4331245"/>
            <a:ext cx="749809" cy="713233"/>
          </a:xfrm>
          <a:prstGeom prst="roundRect">
            <a:avLst>
              <a:gd name="adj" fmla="val 8000"/>
            </a:avLst>
          </a:prstGeom>
          <a:solidFill>
            <a:srgbClr val="BF9000"/>
          </a:solidFill>
          <a:ln w="15875">
            <a:solidFill>
              <a:srgbClr val="BF9000"/>
            </a:solidFill>
          </a:ln>
        </p:spPr>
        <p:txBody>
          <a:bodyPr lIns="45719" rIns="45719" anchor="ctr"/>
          <a:lstStyle/>
          <a:p>
            <a:pPr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04" name="TextBox 15393"/>
          <p:cNvSpPr txBox="1"/>
          <p:nvPr/>
        </p:nvSpPr>
        <p:spPr>
          <a:xfrm>
            <a:off x="8474781" y="4574687"/>
            <a:ext cx="749809" cy="226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95000"/>
              </a:lnSpc>
              <a:defRPr sz="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Ground</a:t>
            </a:r>
          </a:p>
          <a:p>
            <a:pPr algn="ctr" defTabSz="457200">
              <a:lnSpc>
                <a:spcPct val="95000"/>
              </a:lnSpc>
              <a:defRPr sz="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Truth</a:t>
            </a:r>
          </a:p>
        </p:txBody>
      </p:sp>
      <p:sp>
        <p:nvSpPr>
          <p:cNvPr id="205" name="Right Arrow 15394"/>
          <p:cNvSpPr/>
          <p:nvPr/>
        </p:nvSpPr>
        <p:spPr>
          <a:xfrm>
            <a:off x="9229161" y="4623852"/>
            <a:ext cx="100585" cy="9144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F9000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06" name="Rounded Rectangle 15395"/>
          <p:cNvSpPr/>
          <p:nvPr/>
        </p:nvSpPr>
        <p:spPr>
          <a:xfrm>
            <a:off x="9334317" y="4331245"/>
            <a:ext cx="749809" cy="713233"/>
          </a:xfrm>
          <a:prstGeom prst="roundRect">
            <a:avLst>
              <a:gd name="adj" fmla="val 8000"/>
            </a:avLst>
          </a:prstGeom>
          <a:solidFill>
            <a:srgbClr val="BF9000"/>
          </a:solidFill>
          <a:ln w="15875">
            <a:solidFill>
              <a:srgbClr val="BF9000"/>
            </a:solidFill>
          </a:ln>
        </p:spPr>
        <p:txBody>
          <a:bodyPr lIns="45719" rIns="45719" anchor="ctr"/>
          <a:lstStyle/>
          <a:p>
            <a:pPr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07" name="TextBox 15396"/>
          <p:cNvSpPr txBox="1"/>
          <p:nvPr/>
        </p:nvSpPr>
        <p:spPr>
          <a:xfrm>
            <a:off x="9334317" y="4624361"/>
            <a:ext cx="7498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457200">
              <a:lnSpc>
                <a:spcPct val="95000"/>
              </a:lnSpc>
              <a:defRPr sz="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Logs</a:t>
            </a:r>
          </a:p>
        </p:txBody>
      </p:sp>
      <p:sp>
        <p:nvSpPr>
          <p:cNvPr id="208" name="Right Arrow 15397"/>
          <p:cNvSpPr/>
          <p:nvPr/>
        </p:nvSpPr>
        <p:spPr>
          <a:xfrm>
            <a:off x="10088697" y="4623852"/>
            <a:ext cx="100585" cy="9144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F9000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09" name="Rounded Rectangle 15398"/>
          <p:cNvSpPr/>
          <p:nvPr/>
        </p:nvSpPr>
        <p:spPr>
          <a:xfrm>
            <a:off x="10193852" y="4331245"/>
            <a:ext cx="749809" cy="713233"/>
          </a:xfrm>
          <a:prstGeom prst="roundRect">
            <a:avLst>
              <a:gd name="adj" fmla="val 8000"/>
            </a:avLst>
          </a:prstGeom>
          <a:solidFill>
            <a:srgbClr val="BF9000"/>
          </a:solidFill>
          <a:ln w="15875">
            <a:solidFill>
              <a:srgbClr val="BF9000"/>
            </a:solidFill>
          </a:ln>
        </p:spPr>
        <p:txBody>
          <a:bodyPr lIns="45719" rIns="45719" anchor="ctr"/>
          <a:lstStyle/>
          <a:p>
            <a:pPr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10" name="TextBox 15399"/>
          <p:cNvSpPr txBox="1"/>
          <p:nvPr/>
        </p:nvSpPr>
        <p:spPr>
          <a:xfrm>
            <a:off x="10193852" y="4624361"/>
            <a:ext cx="7498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457200">
              <a:lnSpc>
                <a:spcPct val="95000"/>
              </a:lnSpc>
              <a:defRPr sz="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Metrics</a:t>
            </a:r>
          </a:p>
        </p:txBody>
      </p:sp>
      <p:sp>
        <p:nvSpPr>
          <p:cNvPr id="211" name="Right Arrow 15400"/>
          <p:cNvSpPr/>
          <p:nvPr/>
        </p:nvSpPr>
        <p:spPr>
          <a:xfrm>
            <a:off x="10948233" y="4623852"/>
            <a:ext cx="100585" cy="9144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F9000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12" name="Rounded Rectangle 15401"/>
          <p:cNvSpPr/>
          <p:nvPr/>
        </p:nvSpPr>
        <p:spPr>
          <a:xfrm>
            <a:off x="11053389" y="4331245"/>
            <a:ext cx="749809" cy="713233"/>
          </a:xfrm>
          <a:prstGeom prst="roundRect">
            <a:avLst>
              <a:gd name="adj" fmla="val 8000"/>
            </a:avLst>
          </a:prstGeom>
          <a:solidFill>
            <a:srgbClr val="BF9000"/>
          </a:solidFill>
          <a:ln w="15875">
            <a:solidFill>
              <a:srgbClr val="BF9000"/>
            </a:solidFill>
          </a:ln>
        </p:spPr>
        <p:txBody>
          <a:bodyPr lIns="45719" rIns="45719" anchor="ctr"/>
          <a:lstStyle/>
          <a:p>
            <a:pPr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13" name="TextBox 15402"/>
          <p:cNvSpPr txBox="1"/>
          <p:nvPr/>
        </p:nvSpPr>
        <p:spPr>
          <a:xfrm>
            <a:off x="11053389" y="4624361"/>
            <a:ext cx="7498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457200">
              <a:lnSpc>
                <a:spcPct val="95000"/>
              </a:lnSpc>
              <a:defRPr sz="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Diagnosis</a:t>
            </a:r>
          </a:p>
        </p:txBody>
      </p:sp>
      <p:sp>
        <p:nvSpPr>
          <p:cNvPr id="214" name="TextBox 15403"/>
          <p:cNvSpPr txBox="1"/>
          <p:nvPr/>
        </p:nvSpPr>
        <p:spPr>
          <a:xfrm>
            <a:off x="8474781" y="5199925"/>
            <a:ext cx="32918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lnSpc>
                <a:spcPct val="110000"/>
              </a:lnSpc>
              <a:defRPr sz="800" i="1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M6 reads M1–M5. Parallel &amp; read-only — never an inline stage.</a:t>
            </a:r>
          </a:p>
        </p:txBody>
      </p:sp>
      <p:sp>
        <p:nvSpPr>
          <p:cNvPr id="215" name="Rounded Rectangle 15423"/>
          <p:cNvSpPr/>
          <p:nvPr/>
        </p:nvSpPr>
        <p:spPr>
          <a:xfrm>
            <a:off x="4511040" y="3853816"/>
            <a:ext cx="3478322" cy="196596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3E0"/>
            </a:solidFill>
          </a:ln>
        </p:spPr>
        <p:txBody>
          <a:bodyPr lIns="45719" rIns="45719" anchor="ctr"/>
          <a:lstStyle/>
          <a:p>
            <a:pPr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16" name="TextBox 15424"/>
          <p:cNvSpPr txBox="1"/>
          <p:nvPr/>
        </p:nvSpPr>
        <p:spPr>
          <a:xfrm>
            <a:off x="4624843" y="3918501"/>
            <a:ext cx="262681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900" b="1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WHY THIS IS A CLOSED LOOP, NOT A PIPELINE</a:t>
            </a:r>
          </a:p>
        </p:txBody>
      </p:sp>
      <p:sp>
        <p:nvSpPr>
          <p:cNvPr id="217" name="TextBox 15425"/>
          <p:cNvSpPr txBox="1"/>
          <p:nvPr/>
        </p:nvSpPr>
        <p:spPr>
          <a:xfrm>
            <a:off x="4624843" y="4211109"/>
            <a:ext cx="2626814" cy="1133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lnSpc>
                <a:spcPct val="125000"/>
              </a:lnSpc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Every module has one job and a locked interface. M2 never tracks; M3 never predicts; M4 never drives the camera. The control command physically changes the next camera observation — the loop only works if all five modules agree on data contracts.</a:t>
            </a:r>
          </a:p>
        </p:txBody>
      </p:sp>
      <p:sp>
        <p:nvSpPr>
          <p:cNvPr id="218" name="TextBox 15426"/>
          <p:cNvSpPr txBox="1"/>
          <p:nvPr/>
        </p:nvSpPr>
        <p:spPr>
          <a:xfrm>
            <a:off x="4624843" y="5483746"/>
            <a:ext cx="3112562" cy="271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lnSpc>
                <a:spcPct val="115000"/>
              </a:lnSpc>
              <a:defRPr sz="900" i="1">
                <a:solidFill>
                  <a:srgbClr val="7F8FA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Innovation: classical-first and explainable; AI added only where A/B validation proves benefit.</a:t>
            </a:r>
          </a:p>
        </p:txBody>
      </p:sp>
      <p:sp>
        <p:nvSpPr>
          <p:cNvPr id="219" name="Line"/>
          <p:cNvSpPr/>
          <p:nvPr/>
        </p:nvSpPr>
        <p:spPr>
          <a:xfrm>
            <a:off x="9960089" y="3486615"/>
            <a:ext cx="1" cy="292101"/>
          </a:xfrm>
          <a:prstGeom prst="line">
            <a:avLst/>
          </a:prstGeom>
          <a:ln w="25400">
            <a:solidFill>
              <a:schemeClr val="accent6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20" name="observes"/>
          <p:cNvSpPr txBox="1"/>
          <p:nvPr/>
        </p:nvSpPr>
        <p:spPr>
          <a:xfrm>
            <a:off x="10059265" y="3478555"/>
            <a:ext cx="737058" cy="198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/>
            </a:lvl1pPr>
          </a:lstStyle>
          <a:p>
            <a:r>
              <a:t>observes</a:t>
            </a:r>
          </a:p>
        </p:txBody>
      </p:sp>
      <p:sp>
        <p:nvSpPr>
          <p:cNvPr id="221" name="Line"/>
          <p:cNvSpPr/>
          <p:nvPr/>
        </p:nvSpPr>
        <p:spPr>
          <a:xfrm>
            <a:off x="-64850" y="5849890"/>
            <a:ext cx="12321700" cy="1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22" name="Python | OpenCV | NumPy | PyTorch | Kalman Filter | GRU | PD/PID | NumPy/OpenCV Simulator"/>
          <p:cNvSpPr txBox="1"/>
          <p:nvPr/>
        </p:nvSpPr>
        <p:spPr>
          <a:xfrm>
            <a:off x="1796884" y="5966889"/>
            <a:ext cx="7984683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5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Python | OpenCV | NumPy | PyTorch | Kalman Filter | GRU | PD/PID | NumPy/OpenCV Simulator</a:t>
            </a:r>
          </a:p>
        </p:txBody>
      </p:sp>
      <p:sp>
        <p:nvSpPr>
          <p:cNvPr id="223" name="Technical stack:"/>
          <p:cNvSpPr txBox="1"/>
          <p:nvPr/>
        </p:nvSpPr>
        <p:spPr>
          <a:xfrm>
            <a:off x="132741" y="5966889"/>
            <a:ext cx="1461720" cy="222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/>
            </a:lvl1pPr>
          </a:lstStyle>
          <a:p>
            <a:r>
              <a:t>Technical stack:</a:t>
            </a:r>
          </a:p>
        </p:txBody>
      </p:sp>
      <p:sp>
        <p:nvSpPr>
          <p:cNvPr id="224" name="① INPUT &amp; SIMULATION…"/>
          <p:cNvSpPr txBox="1"/>
          <p:nvPr/>
        </p:nvSpPr>
        <p:spPr>
          <a:xfrm>
            <a:off x="74988" y="1136535"/>
            <a:ext cx="2743399" cy="146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457200">
              <a:spcBef>
                <a:spcPts val="1400"/>
              </a:spcBef>
              <a:defRPr sz="14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① INPUT &amp; SIMULATION</a:t>
            </a:r>
          </a:p>
          <a:p>
            <a:pPr defTabSz="457200">
              <a:spcBef>
                <a:spcPts val="1200"/>
              </a:spcBef>
              <a:defRPr sz="12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Virtual FSOC Environment</a:t>
            </a:r>
          </a:p>
          <a:p>
            <a: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Scene → Moving Beacon → Virtual Camera</a:t>
            </a:r>
          </a:p>
          <a:p>
            <a:pPr defTabSz="457200"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</p:txBody>
      </p:sp>
      <p:sp>
        <p:nvSpPr>
          <p:cNvPr id="225" name="② AI/CV PROCESSING PIPELINE…"/>
          <p:cNvSpPr txBox="1"/>
          <p:nvPr/>
        </p:nvSpPr>
        <p:spPr>
          <a:xfrm>
            <a:off x="57082" y="2196781"/>
            <a:ext cx="2779211" cy="3409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ctr" defTabSz="457200">
              <a:spcBef>
                <a:spcPts val="1400"/>
              </a:spcBef>
              <a:defRPr sz="12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② AI/CV PROCESSING PIPELINE</a:t>
            </a:r>
          </a:p>
          <a:p>
            <a:pPr algn="ctr" defTabSz="457200">
              <a:spcBef>
                <a:spcPts val="1200"/>
              </a:spcBef>
              <a:defRPr sz="10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FRAME → DETECT → TRACK → PREDICT</a:t>
            </a:r>
            <a:endParaRPr b="0"/>
          </a:p>
          <a:p>
            <a:pPr algn="ctr" defTabSz="457200">
              <a:spcBef>
                <a:spcPts val="1200"/>
              </a:spcBef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Then under each:</a:t>
            </a:r>
          </a:p>
          <a:p>
            <a:pPr algn="ctr" defTabSz="457200">
              <a:spcBef>
                <a:spcPts val="1200"/>
              </a:spcBef>
              <a:defRPr sz="1100">
                <a:latin typeface="Courier"/>
                <a:ea typeface="Courier"/>
                <a:cs typeface="Courier"/>
                <a:sym typeface="Courier"/>
              </a:defRPr>
            </a:pPr>
            <a:r>
              <a:rPr sz="1000" b="1">
                <a:latin typeface="Times Roman"/>
                <a:ea typeface="Times Roman"/>
                <a:cs typeface="Times Roman"/>
                <a:sym typeface="Times Roman"/>
              </a:rPr>
              <a:t>DETECT</a:t>
            </a:r>
            <a:br>
              <a:rPr sz="1000">
                <a:latin typeface="Times Roman"/>
                <a:ea typeface="Times Roman"/>
                <a:cs typeface="Times Roman"/>
                <a:sym typeface="Times Roman"/>
              </a:rPr>
            </a:br>
            <a:r>
              <a:rPr sz="1000">
                <a:latin typeface="Times Roman"/>
                <a:ea typeface="Times Roman"/>
                <a:cs typeface="Times Roman"/>
                <a:sym typeface="Times Roman"/>
              </a:rPr>
              <a:t>Beacon candidates</a:t>
            </a:r>
            <a:br>
              <a:rPr sz="1000">
                <a:latin typeface="Times Roman"/>
                <a:ea typeface="Times Roman"/>
                <a:cs typeface="Times Roman"/>
                <a:sym typeface="Times Roman"/>
              </a:rPr>
            </a:br>
            <a:r>
              <a:t>Threshold + Blob Analysis</a:t>
            </a:r>
            <a:endParaRPr sz="1000">
              <a:latin typeface="Times Roman"/>
              <a:ea typeface="Times Roman"/>
              <a:cs typeface="Times Roman"/>
              <a:sym typeface="Times Roman"/>
            </a:endParaRPr>
          </a:p>
          <a:p>
            <a:pPr algn="ctr" defTabSz="457200">
              <a:spcBef>
                <a:spcPts val="1200"/>
              </a:spcBef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↓</a:t>
            </a:r>
          </a:p>
          <a:p>
            <a:pPr algn="ctr" defTabSz="457200">
              <a:spcBef>
                <a:spcPts val="1200"/>
              </a:spcBef>
              <a:defRPr sz="1100">
                <a:latin typeface="Courier"/>
                <a:ea typeface="Courier"/>
                <a:cs typeface="Courier"/>
                <a:sym typeface="Courier"/>
              </a:defRPr>
            </a:pPr>
            <a:r>
              <a:rPr sz="1000" b="1">
                <a:latin typeface="Times Roman"/>
                <a:ea typeface="Times Roman"/>
                <a:cs typeface="Times Roman"/>
                <a:sym typeface="Times Roman"/>
              </a:rPr>
              <a:t>TRACK</a:t>
            </a:r>
            <a:br>
              <a:rPr sz="1000">
                <a:latin typeface="Times Roman"/>
                <a:ea typeface="Times Roman"/>
                <a:cs typeface="Times Roman"/>
                <a:sym typeface="Times Roman"/>
              </a:rPr>
            </a:br>
            <a:r>
              <a:rPr sz="1000">
                <a:latin typeface="Times Roman"/>
                <a:ea typeface="Times Roman"/>
                <a:cs typeface="Times Roman"/>
                <a:sym typeface="Times Roman"/>
              </a:rPr>
              <a:t>Reliable beacon position</a:t>
            </a:r>
            <a:br>
              <a:rPr sz="1000">
                <a:latin typeface="Times Roman"/>
                <a:ea typeface="Times Roman"/>
                <a:cs typeface="Times Roman"/>
                <a:sym typeface="Times Roman"/>
              </a:rPr>
            </a:br>
            <a:r>
              <a:t>ROI + Sub-pixel Centroid + Kalman</a:t>
            </a:r>
            <a:endParaRPr sz="1000">
              <a:latin typeface="Times Roman"/>
              <a:ea typeface="Times Roman"/>
              <a:cs typeface="Times Roman"/>
              <a:sym typeface="Times Roman"/>
            </a:endParaRPr>
          </a:p>
          <a:p>
            <a:pPr algn="ctr" defTabSz="457200">
              <a:spcBef>
                <a:spcPts val="1200"/>
              </a:spcBef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↓</a:t>
            </a:r>
          </a:p>
          <a:p>
            <a:pPr algn="ctr" defTabSz="457200">
              <a:spcBef>
                <a:spcPts val="1200"/>
              </a:spcBef>
              <a:defRPr sz="1100">
                <a:latin typeface="Courier"/>
                <a:ea typeface="Courier"/>
                <a:cs typeface="Courier"/>
                <a:sym typeface="Courier"/>
              </a:defRPr>
            </a:pPr>
            <a:r>
              <a:rPr sz="1000" b="1">
                <a:latin typeface="Times Roman"/>
                <a:ea typeface="Times Roman"/>
                <a:cs typeface="Times Roman"/>
                <a:sym typeface="Times Roman"/>
              </a:rPr>
              <a:t>PREDICT</a:t>
            </a:r>
            <a:br>
              <a:rPr sz="1000">
                <a:latin typeface="Times Roman"/>
                <a:ea typeface="Times Roman"/>
                <a:cs typeface="Times Roman"/>
                <a:sym typeface="Times Roman"/>
              </a:rPr>
            </a:br>
            <a:r>
              <a:rPr sz="1000">
                <a:latin typeface="Times Roman"/>
                <a:ea typeface="Times Roman"/>
                <a:cs typeface="Times Roman"/>
                <a:sym typeface="Times Roman"/>
              </a:rPr>
              <a:t>Future beacon position</a:t>
            </a:r>
            <a:br>
              <a:rPr sz="1000">
                <a:latin typeface="Times Roman"/>
                <a:ea typeface="Times Roman"/>
                <a:cs typeface="Times Roman"/>
                <a:sym typeface="Times Roman"/>
              </a:rPr>
            </a:br>
            <a:r>
              <a:t>Delay-aware KF + GRU Residual</a:t>
            </a:r>
          </a:p>
        </p:txBody>
      </p:sp>
      <p:sp>
        <p:nvSpPr>
          <p:cNvPr id="226" name="③ CLOSED-LOOP CONTROL…"/>
          <p:cNvSpPr txBox="1"/>
          <p:nvPr/>
        </p:nvSpPr>
        <p:spPr>
          <a:xfrm>
            <a:off x="2948185" y="2204654"/>
            <a:ext cx="984812" cy="27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 defTabSz="457200">
              <a:spcBef>
                <a:spcPts val="1400"/>
              </a:spcBef>
              <a:defRPr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③ CLOSED-LOOP CONTROL</a:t>
            </a:r>
          </a:p>
          <a:p>
            <a:pPr algn="ctr" defTabSz="457200">
              <a:spcBef>
                <a:spcPts val="1200"/>
              </a:spcBef>
              <a:defRPr sz="1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PREDICTED POSITION →</a:t>
            </a:r>
          </a:p>
          <a:p>
            <a:pPr algn="ctr" defTabSz="457200">
              <a:spcBef>
                <a:spcPts val="1200"/>
              </a:spcBef>
              <a:defRPr sz="1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POINTING ERROR →</a:t>
            </a:r>
          </a:p>
          <a:p>
            <a:pPr algn="ctr" defTabSz="457200">
              <a:spcBef>
                <a:spcPts val="1200"/>
              </a:spcBef>
              <a:defRPr sz="1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PAN/TILT COMMAND → </a:t>
            </a:r>
          </a:p>
          <a:p>
            <a:pPr algn="ctr" defTabSz="457200">
              <a:spcBef>
                <a:spcPts val="1200"/>
              </a:spcBef>
              <a:defRPr sz="1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CAMERA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Footer Placeholder 6"/>
          <p:cNvSpPr txBox="1"/>
          <p:nvPr/>
        </p:nvSpPr>
        <p:spPr>
          <a:xfrm>
            <a:off x="4693920" y="6404296"/>
            <a:ext cx="3112562" cy="26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 defTabSz="457200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r>
              <a:t>@SIH Idea submission- Template</a:t>
            </a:r>
          </a:p>
        </p:txBody>
      </p:sp>
      <p:sp>
        <p:nvSpPr>
          <p:cNvPr id="231" name="Rectangle 9"/>
          <p:cNvSpPr/>
          <p:nvPr/>
        </p:nvSpPr>
        <p:spPr>
          <a:xfrm>
            <a:off x="-2" y="6354762"/>
            <a:ext cx="12192003" cy="503240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0" tIns="0" rIns="0" bIns="0" anchor="ctr"/>
          <a:lstStyle/>
          <a:p>
            <a:pPr algn="ctr" defTabSz="457200">
              <a:defRPr>
                <a:solidFill>
                  <a:srgbClr val="953735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32" name="Title 1"/>
          <p:cNvSpPr txBox="1">
            <a:spLocks noGrp="1"/>
          </p:cNvSpPr>
          <p:nvPr>
            <p:ph type="title"/>
          </p:nvPr>
        </p:nvSpPr>
        <p:spPr>
          <a:xfrm>
            <a:off x="609600" y="22623"/>
            <a:ext cx="10972800" cy="1143001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FEASIBILITY AND VIABILITY</a:t>
            </a:r>
          </a:p>
        </p:txBody>
      </p:sp>
      <p:sp>
        <p:nvSpPr>
          <p:cNvPr id="233" name="Slide Number Placeholder 5"/>
          <p:cNvSpPr txBox="1">
            <a:spLocks noGrp="1"/>
          </p:cNvSpPr>
          <p:nvPr>
            <p:ph type="sldNum" sz="quarter" idx="4294967295"/>
          </p:nvPr>
        </p:nvSpPr>
        <p:spPr>
          <a:xfrm>
            <a:off x="11393501" y="6404295"/>
            <a:ext cx="188897" cy="269239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defTabSz="457200">
              <a:defRPr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4</a:t>
            </a:fld>
            <a:endParaRPr/>
          </a:p>
        </p:txBody>
      </p:sp>
      <p:grpSp>
        <p:nvGrpSpPr>
          <p:cNvPr id="236" name="Oval 11"/>
          <p:cNvGrpSpPr/>
          <p:nvPr/>
        </p:nvGrpSpPr>
        <p:grpSpPr>
          <a:xfrm>
            <a:off x="53466" y="247399"/>
            <a:ext cx="1251861" cy="807340"/>
            <a:chOff x="0" y="-1"/>
            <a:chExt cx="1251860" cy="807338"/>
          </a:xfrm>
        </p:grpSpPr>
        <p:sp>
          <p:nvSpPr>
            <p:cNvPr id="234" name="Oval"/>
            <p:cNvSpPr/>
            <p:nvPr/>
          </p:nvSpPr>
          <p:spPr>
            <a:xfrm>
              <a:off x="-1" y="-2"/>
              <a:ext cx="1251861" cy="807339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235" name="Team Zenith"/>
            <p:cNvSpPr txBox="1"/>
            <p:nvPr/>
          </p:nvSpPr>
          <p:spPr>
            <a:xfrm>
              <a:off x="241749" y="91073"/>
              <a:ext cx="768360" cy="6251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t>Team Zenith</a:t>
              </a:r>
            </a:p>
          </p:txBody>
        </p:sp>
      </p:grpSp>
      <p:pic>
        <p:nvPicPr>
          <p:cNvPr id="237" name="Picture 10" descr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5" y="1500"/>
            <a:ext cx="2249853" cy="1062337"/>
          </a:xfrm>
          <a:prstGeom prst="rect">
            <a:avLst/>
          </a:prstGeom>
          <a:ln w="12700">
            <a:miter lim="400000"/>
          </a:ln>
        </p:spPr>
      </p:pic>
      <p:sp>
        <p:nvSpPr>
          <p:cNvPr id="238" name="Shape 9"/>
          <p:cNvSpPr/>
          <p:nvPr/>
        </p:nvSpPr>
        <p:spPr>
          <a:xfrm>
            <a:off x="-1987" y="1092434"/>
            <a:ext cx="2473518" cy="347474"/>
          </a:xfrm>
          <a:prstGeom prst="roundRect">
            <a:avLst>
              <a:gd name="adj" fmla="val 21053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39" name="Text 10"/>
          <p:cNvSpPr txBox="1"/>
          <p:nvPr/>
        </p:nvSpPr>
        <p:spPr>
          <a:xfrm>
            <a:off x="135173" y="1182790"/>
            <a:ext cx="548640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Feasibility Analysis</a:t>
            </a:r>
          </a:p>
        </p:txBody>
      </p:sp>
      <p:sp>
        <p:nvSpPr>
          <p:cNvPr id="240" name="Shape 12"/>
          <p:cNvSpPr/>
          <p:nvPr/>
        </p:nvSpPr>
        <p:spPr>
          <a:xfrm>
            <a:off x="19923" y="1552356"/>
            <a:ext cx="1188723" cy="777243"/>
          </a:xfrm>
          <a:prstGeom prst="rect">
            <a:avLst/>
          </a:prstGeom>
          <a:solidFill>
            <a:srgbClr val="E8EDF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41" name="Text 13"/>
          <p:cNvSpPr txBox="1"/>
          <p:nvPr/>
        </p:nvSpPr>
        <p:spPr>
          <a:xfrm>
            <a:off x="19923" y="1778592"/>
            <a:ext cx="1163323" cy="350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 algn="ctr">
              <a:defRPr sz="1100" b="1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Technical</a:t>
            </a:r>
            <a:endParaRPr sz="900"/>
          </a:p>
          <a:p>
            <a:pPr algn="ctr">
              <a:defRPr sz="1100" b="1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Feasibility</a:t>
            </a:r>
          </a:p>
        </p:txBody>
      </p:sp>
      <p:sp>
        <p:nvSpPr>
          <p:cNvPr id="242" name="Text 14"/>
          <p:cNvSpPr txBox="1"/>
          <p:nvPr/>
        </p:nvSpPr>
        <p:spPr>
          <a:xfrm>
            <a:off x="1254364" y="1736946"/>
            <a:ext cx="4213862" cy="446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defRPr sz="1300">
                <a:solidFill>
                  <a:srgbClr val="2D2D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100% open-source, peer-reviewed tools (Python, OpenCV, PyTorch). No proprietary dependencies.</a:t>
            </a:r>
          </a:p>
        </p:txBody>
      </p:sp>
      <p:sp>
        <p:nvSpPr>
          <p:cNvPr id="243" name="Shape 15"/>
          <p:cNvSpPr/>
          <p:nvPr/>
        </p:nvSpPr>
        <p:spPr>
          <a:xfrm>
            <a:off x="19923" y="2375317"/>
            <a:ext cx="1188723" cy="777242"/>
          </a:xfrm>
          <a:prstGeom prst="rect">
            <a:avLst/>
          </a:prstGeom>
          <a:solidFill>
            <a:srgbClr val="E8EDF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44" name="Text 16"/>
          <p:cNvSpPr txBox="1"/>
          <p:nvPr/>
        </p:nvSpPr>
        <p:spPr>
          <a:xfrm>
            <a:off x="19923" y="2601552"/>
            <a:ext cx="1163323" cy="350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 algn="ctr">
              <a:defRPr sz="1100" b="1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Data</a:t>
            </a:r>
          </a:p>
          <a:p>
            <a:pPr algn="ctr">
              <a:defRPr sz="1100" b="1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Feasibility</a:t>
            </a:r>
          </a:p>
        </p:txBody>
      </p:sp>
      <p:sp>
        <p:nvSpPr>
          <p:cNvPr id="245" name="Text 17"/>
          <p:cNvSpPr txBox="1"/>
          <p:nvPr/>
        </p:nvSpPr>
        <p:spPr>
          <a:xfrm>
            <a:off x="1254364" y="2458306"/>
            <a:ext cx="4213862" cy="649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defRPr sz="1300">
                <a:solidFill>
                  <a:srgbClr val="2D2D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No external dataset needed — PS states N/A. All data synthetically generated, fully reproducible via seeded randomness.</a:t>
            </a:r>
          </a:p>
        </p:txBody>
      </p:sp>
      <p:sp>
        <p:nvSpPr>
          <p:cNvPr id="246" name="Shape 18"/>
          <p:cNvSpPr/>
          <p:nvPr/>
        </p:nvSpPr>
        <p:spPr>
          <a:xfrm>
            <a:off x="19923" y="3198277"/>
            <a:ext cx="1188723" cy="777242"/>
          </a:xfrm>
          <a:prstGeom prst="rect">
            <a:avLst/>
          </a:prstGeom>
          <a:solidFill>
            <a:srgbClr val="E8EDF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47" name="Text 19"/>
          <p:cNvSpPr txBox="1"/>
          <p:nvPr/>
        </p:nvSpPr>
        <p:spPr>
          <a:xfrm>
            <a:off x="19923" y="3424513"/>
            <a:ext cx="1163323" cy="3501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 algn="ctr">
              <a:defRPr sz="1100" b="1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Hardware</a:t>
            </a:r>
          </a:p>
          <a:p>
            <a:pPr algn="ctr">
              <a:defRPr sz="1100" b="1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Feasibility</a:t>
            </a:r>
          </a:p>
        </p:txBody>
      </p:sp>
      <p:sp>
        <p:nvSpPr>
          <p:cNvPr id="248" name="Text 20"/>
          <p:cNvSpPr txBox="1"/>
          <p:nvPr/>
        </p:nvSpPr>
        <p:spPr>
          <a:xfrm>
            <a:off x="1254364" y="3382866"/>
            <a:ext cx="4213862" cy="446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defRPr sz="1300">
                <a:solidFill>
                  <a:srgbClr val="2D2D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Runs on any standard CPU at ≥20 FPS. GPU only speeds up training — never required for the live demo.</a:t>
            </a:r>
          </a:p>
        </p:txBody>
      </p:sp>
      <p:sp>
        <p:nvSpPr>
          <p:cNvPr id="249" name="Shape 21"/>
          <p:cNvSpPr/>
          <p:nvPr/>
        </p:nvSpPr>
        <p:spPr>
          <a:xfrm>
            <a:off x="19923" y="4021237"/>
            <a:ext cx="1188723" cy="777242"/>
          </a:xfrm>
          <a:prstGeom prst="rect">
            <a:avLst/>
          </a:prstGeom>
          <a:solidFill>
            <a:srgbClr val="E8EDF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50" name="Text 22"/>
          <p:cNvSpPr txBox="1"/>
          <p:nvPr/>
        </p:nvSpPr>
        <p:spPr>
          <a:xfrm>
            <a:off x="19923" y="4246071"/>
            <a:ext cx="1163323" cy="3529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 algn="ctr">
              <a:defRPr sz="1000" b="1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Development</a:t>
            </a:r>
          </a:p>
          <a:p>
            <a:pPr algn="ctr">
              <a:defRPr sz="1000" b="1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Feasibility</a:t>
            </a:r>
          </a:p>
        </p:txBody>
      </p:sp>
      <p:sp>
        <p:nvSpPr>
          <p:cNvPr id="251" name="Text 23"/>
          <p:cNvSpPr txBox="1"/>
          <p:nvPr/>
        </p:nvSpPr>
        <p:spPr>
          <a:xfrm>
            <a:off x="1254364" y="4205826"/>
            <a:ext cx="4213862" cy="446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defRPr sz="1300">
                <a:solidFill>
                  <a:srgbClr val="2D2D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6 modules, clean input/output contracts — fully parallel development across the team, zero blocking.</a:t>
            </a:r>
          </a:p>
        </p:txBody>
      </p:sp>
      <p:sp>
        <p:nvSpPr>
          <p:cNvPr id="252" name="Shape 24"/>
          <p:cNvSpPr/>
          <p:nvPr/>
        </p:nvSpPr>
        <p:spPr>
          <a:xfrm>
            <a:off x="19923" y="4844196"/>
            <a:ext cx="1188723" cy="777242"/>
          </a:xfrm>
          <a:prstGeom prst="rect">
            <a:avLst/>
          </a:prstGeom>
          <a:solidFill>
            <a:srgbClr val="E8EDF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53" name="Text 25"/>
          <p:cNvSpPr txBox="1"/>
          <p:nvPr/>
        </p:nvSpPr>
        <p:spPr>
          <a:xfrm>
            <a:off x="19923" y="5070433"/>
            <a:ext cx="1163323" cy="350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 algn="ctr">
              <a:defRPr sz="1100" b="1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Operational</a:t>
            </a:r>
          </a:p>
          <a:p>
            <a:pPr algn="ctr">
              <a:defRPr sz="1100" b="1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Feasibility</a:t>
            </a:r>
          </a:p>
        </p:txBody>
      </p:sp>
      <p:sp>
        <p:nvSpPr>
          <p:cNvPr id="254" name="Text 26"/>
          <p:cNvSpPr txBox="1"/>
          <p:nvPr/>
        </p:nvSpPr>
        <p:spPr>
          <a:xfrm>
            <a:off x="1254364" y="5028786"/>
            <a:ext cx="4213862" cy="446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defRPr sz="1300">
                <a:solidFill>
                  <a:srgbClr val="2D2D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Delivers every mandatory output: executable, source code, report, manual, auto-generated performance log.</a:t>
            </a:r>
          </a:p>
        </p:txBody>
      </p:sp>
      <p:pic>
        <p:nvPicPr>
          <p:cNvPr id="255" name="Line Line" descr="Line Li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864" y="1215370"/>
            <a:ext cx="3246901" cy="101602"/>
          </a:xfrm>
          <a:prstGeom prst="rect">
            <a:avLst/>
          </a:prstGeom>
          <a:ln w="12700">
            <a:miter lim="400000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</p:pic>
      <p:pic>
        <p:nvPicPr>
          <p:cNvPr id="256" name="Line Line" descr="Line Lin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970949" y="3737604"/>
            <a:ext cx="5146067" cy="101602"/>
          </a:xfrm>
          <a:prstGeom prst="rect">
            <a:avLst/>
          </a:prstGeom>
          <a:ln w="12700">
            <a:miter lim="400000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</p:pic>
      <p:sp>
        <p:nvSpPr>
          <p:cNvPr id="257" name="Shape 27"/>
          <p:cNvSpPr/>
          <p:nvPr/>
        </p:nvSpPr>
        <p:spPr>
          <a:xfrm>
            <a:off x="6648918" y="1092434"/>
            <a:ext cx="5543083" cy="347474"/>
          </a:xfrm>
          <a:prstGeom prst="roundRect">
            <a:avLst>
              <a:gd name="adj" fmla="val 21053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58" name="Text 28"/>
          <p:cNvSpPr txBox="1"/>
          <p:nvPr/>
        </p:nvSpPr>
        <p:spPr>
          <a:xfrm>
            <a:off x="6786078" y="1182790"/>
            <a:ext cx="534924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Challenges and Strategies</a:t>
            </a:r>
          </a:p>
        </p:txBody>
      </p:sp>
      <p:pic>
        <p:nvPicPr>
          <p:cNvPr id="259" name="Line Line" descr="Line Li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2299" y="1218897"/>
            <a:ext cx="1277260" cy="101602"/>
          </a:xfrm>
          <a:prstGeom prst="rect">
            <a:avLst/>
          </a:prstGeom>
          <a:ln w="12700">
            <a:miter lim="400000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</p:pic>
      <p:grpSp>
        <p:nvGrpSpPr>
          <p:cNvPr id="262" name="Rounded Rectangle 17409"/>
          <p:cNvGrpSpPr/>
          <p:nvPr/>
        </p:nvGrpSpPr>
        <p:grpSpPr>
          <a:xfrm>
            <a:off x="5626091" y="1609237"/>
            <a:ext cx="1897127" cy="265601"/>
            <a:chOff x="0" y="0"/>
            <a:chExt cx="1897126" cy="265599"/>
          </a:xfrm>
        </p:grpSpPr>
        <p:sp>
          <p:nvSpPr>
            <p:cNvPr id="260" name="Rounded Rectangle"/>
            <p:cNvSpPr/>
            <p:nvPr/>
          </p:nvSpPr>
          <p:spPr>
            <a:xfrm>
              <a:off x="0" y="0"/>
              <a:ext cx="1897127" cy="265600"/>
            </a:xfrm>
            <a:prstGeom prst="roundRect">
              <a:avLst>
                <a:gd name="adj" fmla="val 16667"/>
              </a:avLst>
            </a:prstGeom>
            <a:solidFill>
              <a:srgbClr val="CC3300"/>
            </a:solidFill>
            <a:ln w="12700" cap="flat">
              <a:noFill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261" name="CHALLENGE"/>
            <p:cNvSpPr txBox="1"/>
            <p:nvPr/>
          </p:nvSpPr>
          <p:spPr>
            <a:xfrm>
              <a:off x="39312" y="45768"/>
              <a:ext cx="1818502" cy="1740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ctr" defTabSz="457200">
                <a:defRPr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CHALLENGE</a:t>
              </a:r>
            </a:p>
          </p:txBody>
        </p:sp>
      </p:grpSp>
      <p:grpSp>
        <p:nvGrpSpPr>
          <p:cNvPr id="265" name="Rounded Rectangle 17410"/>
          <p:cNvGrpSpPr/>
          <p:nvPr/>
        </p:nvGrpSpPr>
        <p:grpSpPr>
          <a:xfrm>
            <a:off x="7511281" y="1614019"/>
            <a:ext cx="2423163" cy="256035"/>
            <a:chOff x="0" y="0"/>
            <a:chExt cx="2423161" cy="256033"/>
          </a:xfrm>
        </p:grpSpPr>
        <p:sp>
          <p:nvSpPr>
            <p:cNvPr id="263" name="Rounded Rectangle"/>
            <p:cNvSpPr/>
            <p:nvPr/>
          </p:nvSpPr>
          <p:spPr>
            <a:xfrm>
              <a:off x="0" y="0"/>
              <a:ext cx="2423162" cy="256034"/>
            </a:xfrm>
            <a:prstGeom prst="roundRect">
              <a:avLst>
                <a:gd name="adj" fmla="val 16667"/>
              </a:avLst>
            </a:prstGeom>
            <a:solidFill>
              <a:srgbClr val="0070C0"/>
            </a:solidFill>
            <a:ln w="12700" cap="flat">
              <a:noFill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264" name="OUR SOLUTION"/>
            <p:cNvSpPr txBox="1"/>
            <p:nvPr/>
          </p:nvSpPr>
          <p:spPr>
            <a:xfrm>
              <a:off x="37897" y="40985"/>
              <a:ext cx="2347368" cy="1740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ctr" defTabSz="457200">
                <a:defRPr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OUR SOLUTION</a:t>
              </a:r>
            </a:p>
          </p:txBody>
        </p:sp>
      </p:grpSp>
      <p:grpSp>
        <p:nvGrpSpPr>
          <p:cNvPr id="268" name="Rounded Rectangle 17411"/>
          <p:cNvGrpSpPr/>
          <p:nvPr/>
        </p:nvGrpSpPr>
        <p:grpSpPr>
          <a:xfrm>
            <a:off x="10016996" y="1614019"/>
            <a:ext cx="2011683" cy="256035"/>
            <a:chOff x="0" y="0"/>
            <a:chExt cx="2011682" cy="256033"/>
          </a:xfrm>
        </p:grpSpPr>
        <p:sp>
          <p:nvSpPr>
            <p:cNvPr id="266" name="Rounded Rectangle"/>
            <p:cNvSpPr/>
            <p:nvPr/>
          </p:nvSpPr>
          <p:spPr>
            <a:xfrm>
              <a:off x="0" y="0"/>
              <a:ext cx="2011683" cy="256034"/>
            </a:xfrm>
            <a:prstGeom prst="roundRect">
              <a:avLst>
                <a:gd name="adj" fmla="val 16667"/>
              </a:avLst>
            </a:prstGeom>
            <a:solidFill>
              <a:srgbClr val="007A33"/>
            </a:solidFill>
            <a:ln w="12700" cap="flat">
              <a:noFill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267" name="WHY FEASIBLE"/>
            <p:cNvSpPr txBox="1"/>
            <p:nvPr/>
          </p:nvSpPr>
          <p:spPr>
            <a:xfrm>
              <a:off x="37898" y="40985"/>
              <a:ext cx="1935886" cy="1740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ctr" defTabSz="457200">
                <a:defRPr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WHY FEASIBLE</a:t>
              </a:r>
            </a:p>
          </p:txBody>
        </p:sp>
      </p:grpSp>
      <p:sp>
        <p:nvSpPr>
          <p:cNvPr id="269" name="Rectangle 17412"/>
          <p:cNvSpPr/>
          <p:nvPr/>
        </p:nvSpPr>
        <p:spPr>
          <a:xfrm>
            <a:off x="5622916" y="1920555"/>
            <a:ext cx="1828802" cy="530354"/>
          </a:xfrm>
          <a:prstGeom prst="rect">
            <a:avLst/>
          </a:prstGeom>
          <a:solidFill>
            <a:srgbClr val="E8F1F8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70" name="TextBox 17413"/>
          <p:cNvSpPr txBox="1"/>
          <p:nvPr/>
        </p:nvSpPr>
        <p:spPr>
          <a:xfrm>
            <a:off x="5723499" y="1920556"/>
            <a:ext cx="1627634" cy="517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defRPr sz="1500" b="1">
                <a:solidFill>
                  <a:srgbClr val="002D6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Noise + jitter (±20px)</a:t>
            </a:r>
          </a:p>
        </p:txBody>
      </p:sp>
      <p:sp>
        <p:nvSpPr>
          <p:cNvPr id="271" name="Rectangle 17414"/>
          <p:cNvSpPr/>
          <p:nvPr/>
        </p:nvSpPr>
        <p:spPr>
          <a:xfrm>
            <a:off x="7511281" y="1915772"/>
            <a:ext cx="2423162" cy="530354"/>
          </a:xfrm>
          <a:prstGeom prst="rect">
            <a:avLst/>
          </a:prstGeom>
          <a:solidFill>
            <a:srgbClr val="E8F1F8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72" name="TextBox 17415"/>
          <p:cNvSpPr txBox="1"/>
          <p:nvPr/>
        </p:nvSpPr>
        <p:spPr>
          <a:xfrm>
            <a:off x="7611864" y="1915772"/>
            <a:ext cx="2221994" cy="544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defRPr sz="11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Adaptive median/Top-Hat filtering + uncertainty-aware Kalman gating</a:t>
            </a:r>
          </a:p>
        </p:txBody>
      </p:sp>
      <p:sp>
        <p:nvSpPr>
          <p:cNvPr id="273" name="Rectangle 17416"/>
          <p:cNvSpPr/>
          <p:nvPr/>
        </p:nvSpPr>
        <p:spPr>
          <a:xfrm>
            <a:off x="10016996" y="1915772"/>
            <a:ext cx="2011680" cy="530354"/>
          </a:xfrm>
          <a:prstGeom prst="rect">
            <a:avLst/>
          </a:prstGeom>
          <a:solidFill>
            <a:srgbClr val="E8F1F8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74" name="TextBox 17417"/>
          <p:cNvSpPr txBox="1"/>
          <p:nvPr/>
        </p:nvSpPr>
        <p:spPr>
          <a:xfrm>
            <a:off x="10117580" y="1915772"/>
            <a:ext cx="1810513" cy="50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defRPr sz="1000">
                <a:solidFill>
                  <a:srgbClr val="007A3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Matched countermeasure exists per noise type; proven CV technique</a:t>
            </a:r>
          </a:p>
        </p:txBody>
      </p:sp>
      <p:sp>
        <p:nvSpPr>
          <p:cNvPr id="275" name="Rectangle 17418"/>
          <p:cNvSpPr/>
          <p:nvPr/>
        </p:nvSpPr>
        <p:spPr>
          <a:xfrm>
            <a:off x="5632188" y="2476986"/>
            <a:ext cx="1828801" cy="754525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76" name="TextBox 17419"/>
          <p:cNvSpPr txBox="1"/>
          <p:nvPr/>
        </p:nvSpPr>
        <p:spPr>
          <a:xfrm>
            <a:off x="5723499" y="2478340"/>
            <a:ext cx="1647063" cy="657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defRPr sz="1300" b="1">
                <a:solidFill>
                  <a:srgbClr val="002D6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Atmospheric disturbance (fog/haze/low light)</a:t>
            </a:r>
          </a:p>
        </p:txBody>
      </p:sp>
      <p:sp>
        <p:nvSpPr>
          <p:cNvPr id="277" name="Rectangle 17420"/>
          <p:cNvSpPr/>
          <p:nvPr/>
        </p:nvSpPr>
        <p:spPr>
          <a:xfrm>
            <a:off x="7511281" y="2473555"/>
            <a:ext cx="2423162" cy="754525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78" name="TextBox 17421"/>
          <p:cNvSpPr txBox="1"/>
          <p:nvPr/>
        </p:nvSpPr>
        <p:spPr>
          <a:xfrm>
            <a:off x="7611864" y="2473556"/>
            <a:ext cx="2221994" cy="391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defRPr sz="11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Contrast normalization + adaptive thresholding (not fixed global)</a:t>
            </a:r>
          </a:p>
        </p:txBody>
      </p:sp>
      <p:sp>
        <p:nvSpPr>
          <p:cNvPr id="279" name="Rectangle 17422"/>
          <p:cNvSpPr/>
          <p:nvPr/>
        </p:nvSpPr>
        <p:spPr>
          <a:xfrm>
            <a:off x="10016996" y="2473555"/>
            <a:ext cx="2011680" cy="7570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80" name="TextBox 17423"/>
          <p:cNvSpPr txBox="1"/>
          <p:nvPr/>
        </p:nvSpPr>
        <p:spPr>
          <a:xfrm>
            <a:off x="10117580" y="2473556"/>
            <a:ext cx="1810513" cy="544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defRPr sz="1100">
                <a:solidFill>
                  <a:srgbClr val="007A3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Compensates brightness loss per-frame; no manual retuning needed</a:t>
            </a:r>
          </a:p>
        </p:txBody>
      </p:sp>
      <p:sp>
        <p:nvSpPr>
          <p:cNvPr id="281" name="Rectangle 17424"/>
          <p:cNvSpPr/>
          <p:nvPr/>
        </p:nvSpPr>
        <p:spPr>
          <a:xfrm>
            <a:off x="5623552" y="3254042"/>
            <a:ext cx="1828802" cy="530354"/>
          </a:xfrm>
          <a:prstGeom prst="rect">
            <a:avLst/>
          </a:prstGeom>
          <a:solidFill>
            <a:srgbClr val="E8F1F8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 defTabSz="457200">
              <a:defRPr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82" name="TextBox 17425"/>
          <p:cNvSpPr txBox="1"/>
          <p:nvPr/>
        </p:nvSpPr>
        <p:spPr>
          <a:xfrm>
            <a:off x="5723499" y="3220784"/>
            <a:ext cx="1627634" cy="467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defRPr sz="1300" b="1">
                <a:solidFill>
                  <a:srgbClr val="002D6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Maintaining ≥20 FPS with AI added</a:t>
            </a:r>
          </a:p>
        </p:txBody>
      </p:sp>
      <p:sp>
        <p:nvSpPr>
          <p:cNvPr id="283" name="Rectangle 17426"/>
          <p:cNvSpPr/>
          <p:nvPr/>
        </p:nvSpPr>
        <p:spPr>
          <a:xfrm>
            <a:off x="7517031" y="3262860"/>
            <a:ext cx="2423162" cy="530354"/>
          </a:xfrm>
          <a:prstGeom prst="rect">
            <a:avLst/>
          </a:prstGeom>
          <a:solidFill>
            <a:srgbClr val="E8F1F8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 defTabSz="457200">
              <a:defRPr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84" name="TextBox 17427"/>
          <p:cNvSpPr txBox="1"/>
          <p:nvPr/>
        </p:nvSpPr>
        <p:spPr>
          <a:xfrm>
            <a:off x="7649712" y="3259863"/>
            <a:ext cx="2221994" cy="442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defRPr sz="1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Lightweight residual GRU only, with automatic KF-only fallback</a:t>
            </a:r>
          </a:p>
        </p:txBody>
      </p:sp>
      <p:sp>
        <p:nvSpPr>
          <p:cNvPr id="285" name="Rectangle 17428"/>
          <p:cNvSpPr/>
          <p:nvPr/>
        </p:nvSpPr>
        <p:spPr>
          <a:xfrm>
            <a:off x="10027404" y="3254042"/>
            <a:ext cx="2011680" cy="530354"/>
          </a:xfrm>
          <a:prstGeom prst="rect">
            <a:avLst/>
          </a:prstGeom>
          <a:solidFill>
            <a:srgbClr val="E8F1F8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 defTabSz="457200">
              <a:defRPr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86" name="TextBox 17429"/>
          <p:cNvSpPr txBox="1"/>
          <p:nvPr/>
        </p:nvSpPr>
        <p:spPr>
          <a:xfrm>
            <a:off x="10127988" y="3225057"/>
            <a:ext cx="1810513" cy="544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defRPr sz="1100">
                <a:solidFill>
                  <a:srgbClr val="007A3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GRU adds ~3–5ms; classical baseline alone already meets FPS</a:t>
            </a:r>
          </a:p>
        </p:txBody>
      </p:sp>
      <p:sp>
        <p:nvSpPr>
          <p:cNvPr id="287" name="Rectangle 17430"/>
          <p:cNvSpPr/>
          <p:nvPr/>
        </p:nvSpPr>
        <p:spPr>
          <a:xfrm>
            <a:off x="5616056" y="3813531"/>
            <a:ext cx="1828802" cy="53035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 defTabSz="457200">
              <a:defRPr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88" name="TextBox 17431"/>
          <p:cNvSpPr txBox="1"/>
          <p:nvPr/>
        </p:nvSpPr>
        <p:spPr>
          <a:xfrm>
            <a:off x="5721713" y="3767631"/>
            <a:ext cx="1688984" cy="467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defRPr sz="1300" b="1">
                <a:solidFill>
                  <a:srgbClr val="002D6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Camera ego-motion polluting tracking</a:t>
            </a:r>
          </a:p>
        </p:txBody>
      </p:sp>
      <p:sp>
        <p:nvSpPr>
          <p:cNvPr id="289" name="Rectangle 17432"/>
          <p:cNvSpPr/>
          <p:nvPr/>
        </p:nvSpPr>
        <p:spPr>
          <a:xfrm>
            <a:off x="7517283" y="3819152"/>
            <a:ext cx="2423162" cy="53035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 defTabSz="457200">
              <a:defRPr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90" name="TextBox 17433"/>
          <p:cNvSpPr txBox="1"/>
          <p:nvPr/>
        </p:nvSpPr>
        <p:spPr>
          <a:xfrm>
            <a:off x="7607655" y="3762819"/>
            <a:ext cx="2264050" cy="619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defRPr sz="1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Camera-pose-aware bearing compensation fed into Kalman/GRU</a:t>
            </a:r>
          </a:p>
        </p:txBody>
      </p:sp>
      <p:sp>
        <p:nvSpPr>
          <p:cNvPr id="291" name="Rectangle 17434"/>
          <p:cNvSpPr/>
          <p:nvPr/>
        </p:nvSpPr>
        <p:spPr>
          <a:xfrm>
            <a:off x="10016996" y="3819152"/>
            <a:ext cx="2011680" cy="53035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 defTabSz="457200">
              <a:defRPr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92" name="TextBox 17435"/>
          <p:cNvSpPr txBox="1"/>
          <p:nvPr/>
        </p:nvSpPr>
        <p:spPr>
          <a:xfrm>
            <a:off x="10167871" y="3821165"/>
            <a:ext cx="1713233" cy="544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defRPr sz="1100">
                <a:solidFill>
                  <a:srgbClr val="007A3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Camera pose is exactly known in simulation — zero estimation error</a:t>
            </a:r>
          </a:p>
        </p:txBody>
      </p:sp>
      <p:sp>
        <p:nvSpPr>
          <p:cNvPr id="293" name="Rectangle 17436"/>
          <p:cNvSpPr/>
          <p:nvPr/>
        </p:nvSpPr>
        <p:spPr>
          <a:xfrm>
            <a:off x="5619100" y="4395092"/>
            <a:ext cx="1828802" cy="530354"/>
          </a:xfrm>
          <a:prstGeom prst="rect">
            <a:avLst/>
          </a:prstGeom>
          <a:solidFill>
            <a:srgbClr val="E8F1F8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 defTabSz="457200">
              <a:defRPr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94" name="TextBox 17437"/>
          <p:cNvSpPr txBox="1"/>
          <p:nvPr/>
        </p:nvSpPr>
        <p:spPr>
          <a:xfrm>
            <a:off x="5716639" y="4360313"/>
            <a:ext cx="1627634" cy="467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defRPr sz="1300" b="1">
                <a:solidFill>
                  <a:srgbClr val="002D6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Proving AI genuinely helps</a:t>
            </a:r>
          </a:p>
        </p:txBody>
      </p:sp>
      <p:sp>
        <p:nvSpPr>
          <p:cNvPr id="295" name="Rectangle 17438"/>
          <p:cNvSpPr/>
          <p:nvPr/>
        </p:nvSpPr>
        <p:spPr>
          <a:xfrm>
            <a:off x="7504376" y="4394984"/>
            <a:ext cx="2423162" cy="530354"/>
          </a:xfrm>
          <a:prstGeom prst="rect">
            <a:avLst/>
          </a:prstGeom>
          <a:solidFill>
            <a:srgbClr val="E8F1F8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 defTabSz="457200">
              <a:defRPr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96" name="TextBox 17439"/>
          <p:cNvSpPr txBox="1"/>
          <p:nvPr/>
        </p:nvSpPr>
        <p:spPr>
          <a:xfrm>
            <a:off x="7627995" y="4346804"/>
            <a:ext cx="2221994" cy="442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defRPr sz="1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A/B/C/D closed-loop ablation with identical seeds (Module 6)</a:t>
            </a:r>
          </a:p>
        </p:txBody>
      </p:sp>
      <p:sp>
        <p:nvSpPr>
          <p:cNvPr id="297" name="Rectangle 17440"/>
          <p:cNvSpPr/>
          <p:nvPr/>
        </p:nvSpPr>
        <p:spPr>
          <a:xfrm>
            <a:off x="10016996" y="4384145"/>
            <a:ext cx="2011680" cy="530354"/>
          </a:xfrm>
          <a:prstGeom prst="rect">
            <a:avLst/>
          </a:prstGeom>
          <a:solidFill>
            <a:srgbClr val="E8F1F8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 defTabSz="457200">
              <a:defRPr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98" name="TextBox 17441"/>
          <p:cNvSpPr txBox="1"/>
          <p:nvPr/>
        </p:nvSpPr>
        <p:spPr>
          <a:xfrm>
            <a:off x="10115800" y="4340626"/>
            <a:ext cx="1810513" cy="544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defRPr sz="1100">
                <a:solidFill>
                  <a:srgbClr val="007A3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Full ground truth makes rigorous, repeatable proof possible in-sim</a:t>
            </a:r>
          </a:p>
        </p:txBody>
      </p:sp>
      <p:sp>
        <p:nvSpPr>
          <p:cNvPr id="299" name="Rectangle 17442"/>
          <p:cNvSpPr/>
          <p:nvPr/>
        </p:nvSpPr>
        <p:spPr>
          <a:xfrm>
            <a:off x="5599926" y="4949616"/>
            <a:ext cx="1828801" cy="83453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 defTabSz="457200">
              <a:defRPr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00" name="TextBox 17443"/>
          <p:cNvSpPr txBox="1"/>
          <p:nvPr/>
        </p:nvSpPr>
        <p:spPr>
          <a:xfrm>
            <a:off x="5653828" y="4960149"/>
            <a:ext cx="1824754" cy="848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defRPr sz="1300" b="1">
                <a:solidFill>
                  <a:srgbClr val="002D6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Benchmark-2: external .mp4 input, bypass virtual camera</a:t>
            </a:r>
          </a:p>
        </p:txBody>
      </p:sp>
      <p:sp>
        <p:nvSpPr>
          <p:cNvPr id="301" name="Rectangle 17444"/>
          <p:cNvSpPr/>
          <p:nvPr/>
        </p:nvSpPr>
        <p:spPr>
          <a:xfrm>
            <a:off x="7535702" y="4987947"/>
            <a:ext cx="2423162" cy="8016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 defTabSz="457200">
              <a:defRPr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02" name="TextBox 17445"/>
          <p:cNvSpPr txBox="1"/>
          <p:nvPr/>
        </p:nvSpPr>
        <p:spPr>
          <a:xfrm>
            <a:off x="7611864" y="5076088"/>
            <a:ext cx="2221994" cy="619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defRPr sz="1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Source-agnostic Frame Receiver contract accepts video or live sim</a:t>
            </a:r>
          </a:p>
        </p:txBody>
      </p:sp>
      <p:sp>
        <p:nvSpPr>
          <p:cNvPr id="303" name="Rectangle 17446"/>
          <p:cNvSpPr/>
          <p:nvPr/>
        </p:nvSpPr>
        <p:spPr>
          <a:xfrm>
            <a:off x="10016996" y="4973899"/>
            <a:ext cx="2011680" cy="790143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 defTabSz="457200">
              <a:defRPr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04" name="TextBox 17447"/>
          <p:cNvSpPr txBox="1"/>
          <p:nvPr/>
        </p:nvSpPr>
        <p:spPr>
          <a:xfrm>
            <a:off x="10167871" y="4969564"/>
            <a:ext cx="1810513" cy="544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defRPr sz="1100">
                <a:solidFill>
                  <a:srgbClr val="007A3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Designed source-agnostic from day one — satisfies PS requirement directly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Footer Placeholder 6"/>
          <p:cNvSpPr txBox="1"/>
          <p:nvPr/>
        </p:nvSpPr>
        <p:spPr>
          <a:xfrm>
            <a:off x="4693920" y="6404296"/>
            <a:ext cx="3112562" cy="26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 defTabSz="457200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r>
              <a:t>@SIH Idea submission- Template</a:t>
            </a:r>
          </a:p>
        </p:txBody>
      </p:sp>
      <p:sp>
        <p:nvSpPr>
          <p:cNvPr id="309" name="Rectangle 9"/>
          <p:cNvSpPr/>
          <p:nvPr/>
        </p:nvSpPr>
        <p:spPr>
          <a:xfrm>
            <a:off x="-2" y="6354762"/>
            <a:ext cx="12192003" cy="503240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0" tIns="0" rIns="0" bIns="0" anchor="ctr"/>
          <a:lstStyle/>
          <a:p>
            <a:pPr algn="ctr" defTabSz="457200">
              <a:defRPr>
                <a:solidFill>
                  <a:srgbClr val="953735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10" name="Title 1"/>
          <p:cNvSpPr txBox="1"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IMPACT AND BENEFITS</a:t>
            </a:r>
          </a:p>
        </p:txBody>
      </p:sp>
      <p:sp>
        <p:nvSpPr>
          <p:cNvPr id="311" name="Slide Number Placeholder 5"/>
          <p:cNvSpPr txBox="1">
            <a:spLocks noGrp="1"/>
          </p:cNvSpPr>
          <p:nvPr>
            <p:ph type="sldNum" sz="quarter" idx="4294967295"/>
          </p:nvPr>
        </p:nvSpPr>
        <p:spPr>
          <a:xfrm>
            <a:off x="11393501" y="6404295"/>
            <a:ext cx="188897" cy="269239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defTabSz="457200">
              <a:defRPr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5</a:t>
            </a:fld>
            <a:endParaRPr/>
          </a:p>
        </p:txBody>
      </p:sp>
      <p:grpSp>
        <p:nvGrpSpPr>
          <p:cNvPr id="314" name="Oval 11"/>
          <p:cNvGrpSpPr/>
          <p:nvPr/>
        </p:nvGrpSpPr>
        <p:grpSpPr>
          <a:xfrm>
            <a:off x="329771" y="252243"/>
            <a:ext cx="1251861" cy="807339"/>
            <a:chOff x="0" y="-1"/>
            <a:chExt cx="1251860" cy="807338"/>
          </a:xfrm>
        </p:grpSpPr>
        <p:sp>
          <p:nvSpPr>
            <p:cNvPr id="312" name="Oval"/>
            <p:cNvSpPr/>
            <p:nvPr/>
          </p:nvSpPr>
          <p:spPr>
            <a:xfrm>
              <a:off x="-1" y="-2"/>
              <a:ext cx="1251861" cy="807339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313" name="Team Zenith"/>
            <p:cNvSpPr txBox="1"/>
            <p:nvPr/>
          </p:nvSpPr>
          <p:spPr>
            <a:xfrm>
              <a:off x="241749" y="91073"/>
              <a:ext cx="768360" cy="6251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t>Team Zenith</a:t>
              </a:r>
            </a:p>
          </p:txBody>
        </p:sp>
      </p:grpSp>
      <p:pic>
        <p:nvPicPr>
          <p:cNvPr id="315" name="Picture 10" descr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5" y="1500"/>
            <a:ext cx="2249853" cy="1062337"/>
          </a:xfrm>
          <a:prstGeom prst="rect">
            <a:avLst/>
          </a:prstGeom>
          <a:ln w="12700">
            <a:miter lim="400000"/>
          </a:ln>
        </p:spPr>
      </p:pic>
      <p:sp>
        <p:nvSpPr>
          <p:cNvPr id="316" name="Shape 9"/>
          <p:cNvSpPr/>
          <p:nvPr/>
        </p:nvSpPr>
        <p:spPr>
          <a:xfrm>
            <a:off x="-2" y="1212407"/>
            <a:ext cx="2707566" cy="589046"/>
          </a:xfrm>
          <a:prstGeom prst="roundRect">
            <a:avLst>
              <a:gd name="adj" fmla="val 16481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17" name="Line"/>
          <p:cNvSpPr/>
          <p:nvPr/>
        </p:nvSpPr>
        <p:spPr>
          <a:xfrm>
            <a:off x="2707297" y="1473631"/>
            <a:ext cx="6483858" cy="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18" name="Text 10"/>
          <p:cNvSpPr txBox="1"/>
          <p:nvPr/>
        </p:nvSpPr>
        <p:spPr>
          <a:xfrm>
            <a:off x="241646" y="1354501"/>
            <a:ext cx="2086139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Projected Outcomes</a:t>
            </a:r>
          </a:p>
        </p:txBody>
      </p:sp>
      <p:sp>
        <p:nvSpPr>
          <p:cNvPr id="319" name="Shape 27"/>
          <p:cNvSpPr/>
          <p:nvPr/>
        </p:nvSpPr>
        <p:spPr>
          <a:xfrm>
            <a:off x="9079438" y="1228688"/>
            <a:ext cx="3112562" cy="503240"/>
          </a:xfrm>
          <a:prstGeom prst="roundRect">
            <a:avLst>
              <a:gd name="adj" fmla="val 14537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20" name="Text 28"/>
          <p:cNvSpPr txBox="1"/>
          <p:nvPr/>
        </p:nvSpPr>
        <p:spPr>
          <a:xfrm>
            <a:off x="10450228" y="1354208"/>
            <a:ext cx="1050715" cy="238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9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Benefits</a:t>
            </a:r>
          </a:p>
        </p:txBody>
      </p:sp>
      <p:sp>
        <p:nvSpPr>
          <p:cNvPr id="321" name="Line"/>
          <p:cNvSpPr/>
          <p:nvPr/>
        </p:nvSpPr>
        <p:spPr>
          <a:xfrm flipV="1">
            <a:off x="6057669" y="1478938"/>
            <a:ext cx="3" cy="4883218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22" name="Shape 12"/>
          <p:cNvSpPr/>
          <p:nvPr/>
        </p:nvSpPr>
        <p:spPr>
          <a:xfrm>
            <a:off x="307865" y="1977433"/>
            <a:ext cx="1325881" cy="804674"/>
          </a:xfrm>
          <a:prstGeom prst="rect">
            <a:avLst/>
          </a:prstGeom>
          <a:solidFill>
            <a:srgbClr val="E8EDF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 sz="22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23" name="Text 13"/>
          <p:cNvSpPr txBox="1"/>
          <p:nvPr/>
        </p:nvSpPr>
        <p:spPr>
          <a:xfrm>
            <a:off x="307865" y="2119420"/>
            <a:ext cx="1300481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 algn="ctr" defTabSz="457200">
              <a:defRPr sz="1100" b="1" i="1">
                <a:solidFill>
                  <a:srgbClr val="14234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Working Closed-Loop</a:t>
            </a:r>
          </a:p>
          <a:p>
            <a:pPr algn="ctr" defTabSz="457200">
              <a:defRPr sz="1100" b="1" i="1">
                <a:solidFill>
                  <a:srgbClr val="14234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Tracking System</a:t>
            </a:r>
          </a:p>
        </p:txBody>
      </p:sp>
      <p:sp>
        <p:nvSpPr>
          <p:cNvPr id="324" name="Text 14"/>
          <p:cNvSpPr txBox="1"/>
          <p:nvPr/>
        </p:nvSpPr>
        <p:spPr>
          <a:xfrm>
            <a:off x="1679464" y="2125706"/>
            <a:ext cx="4076703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 defTabSz="457200">
              <a:defRPr sz="1200">
                <a:solidFill>
                  <a:srgbClr val="232732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A complete software pipeline connects virtual scene generation, beacon detection, tracking, future-position prediction and bounded pan/tilt control in one closed loop.</a:t>
            </a:r>
          </a:p>
        </p:txBody>
      </p:sp>
      <p:sp>
        <p:nvSpPr>
          <p:cNvPr id="325" name="Shape 15"/>
          <p:cNvSpPr/>
          <p:nvPr/>
        </p:nvSpPr>
        <p:spPr>
          <a:xfrm>
            <a:off x="307865" y="2827826"/>
            <a:ext cx="1325881" cy="804674"/>
          </a:xfrm>
          <a:prstGeom prst="rect">
            <a:avLst/>
          </a:prstGeom>
          <a:solidFill>
            <a:srgbClr val="E8EDF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 sz="22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26" name="Text 16"/>
          <p:cNvSpPr txBox="1"/>
          <p:nvPr/>
        </p:nvSpPr>
        <p:spPr>
          <a:xfrm>
            <a:off x="307865" y="2861862"/>
            <a:ext cx="130048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 algn="ctr" defTabSz="457200">
              <a:defRPr sz="1200" b="1" i="1">
                <a:solidFill>
                  <a:srgbClr val="14234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Autonomous Beacon</a:t>
            </a:r>
          </a:p>
          <a:p>
            <a:pPr algn="ctr" defTabSz="457200">
              <a:defRPr sz="1200" b="1" i="1">
                <a:solidFill>
                  <a:srgbClr val="14234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Acquisition &amp; Tracking</a:t>
            </a:r>
          </a:p>
        </p:txBody>
      </p:sp>
      <p:sp>
        <p:nvSpPr>
          <p:cNvPr id="327" name="Text 17"/>
          <p:cNvSpPr txBox="1"/>
          <p:nvPr/>
        </p:nvSpPr>
        <p:spPr>
          <a:xfrm>
            <a:off x="1679464" y="2887833"/>
            <a:ext cx="4076703" cy="722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defRPr sz="1400">
                <a:solidFill>
                  <a:srgbClr val="2D2D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Frame-level candidate detection is combined with temporal validation, sub-pixel centroiding, Kalman state estimation and loss/re-acquisition handling.</a:t>
            </a:r>
          </a:p>
        </p:txBody>
      </p:sp>
      <p:sp>
        <p:nvSpPr>
          <p:cNvPr id="328" name="Shape 18"/>
          <p:cNvSpPr/>
          <p:nvPr/>
        </p:nvSpPr>
        <p:spPr>
          <a:xfrm>
            <a:off x="307865" y="3678218"/>
            <a:ext cx="1325881" cy="804674"/>
          </a:xfrm>
          <a:prstGeom prst="rect">
            <a:avLst/>
          </a:prstGeom>
          <a:solidFill>
            <a:srgbClr val="E8EDF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 sz="22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29" name="Text 19"/>
          <p:cNvSpPr txBox="1"/>
          <p:nvPr/>
        </p:nvSpPr>
        <p:spPr>
          <a:xfrm>
            <a:off x="307865" y="3763054"/>
            <a:ext cx="1300481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 algn="ctr" defTabSz="457200">
              <a:defRPr sz="1300" b="1" i="1">
                <a:solidFill>
                  <a:srgbClr val="14234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Delay-Aware Pointing</a:t>
            </a:r>
          </a:p>
          <a:p>
            <a:pPr algn="ctr" defTabSz="457200">
              <a:defRPr sz="1300" b="1" i="1">
                <a:solidFill>
                  <a:srgbClr val="14234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Correction</a:t>
            </a:r>
          </a:p>
        </p:txBody>
      </p:sp>
      <p:sp>
        <p:nvSpPr>
          <p:cNvPr id="330" name="Text 20"/>
          <p:cNvSpPr txBox="1"/>
          <p:nvPr/>
        </p:nvSpPr>
        <p:spPr>
          <a:xfrm>
            <a:off x="1679464" y="3738224"/>
            <a:ext cx="4076703" cy="722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defRPr sz="1400">
                <a:solidFill>
                  <a:srgbClr val="2D2D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The prediction layer estimates beacon position at the actual system-delay horizon, while the controller converts image error into bounded pan/tilt commands.</a:t>
            </a:r>
          </a:p>
        </p:txBody>
      </p:sp>
      <p:sp>
        <p:nvSpPr>
          <p:cNvPr id="331" name="Shape 21"/>
          <p:cNvSpPr/>
          <p:nvPr/>
        </p:nvSpPr>
        <p:spPr>
          <a:xfrm>
            <a:off x="307865" y="4528610"/>
            <a:ext cx="1325881" cy="804674"/>
          </a:xfrm>
          <a:prstGeom prst="rect">
            <a:avLst/>
          </a:prstGeom>
          <a:solidFill>
            <a:srgbClr val="E8EDF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 sz="22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32" name="Text 22"/>
          <p:cNvSpPr txBox="1"/>
          <p:nvPr/>
        </p:nvSpPr>
        <p:spPr>
          <a:xfrm>
            <a:off x="307865" y="4511846"/>
            <a:ext cx="1300481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 algn="ctr" defTabSz="457200">
              <a:defRPr sz="1300" b="1" i="1">
                <a:solidFill>
                  <a:srgbClr val="14234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Robust Operation Under</a:t>
            </a:r>
          </a:p>
          <a:p>
            <a:pPr algn="ctr" defTabSz="457200">
              <a:defRPr sz="1300" b="1" i="1">
                <a:solidFill>
                  <a:srgbClr val="14234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Disturbances</a:t>
            </a:r>
          </a:p>
        </p:txBody>
      </p:sp>
      <p:sp>
        <p:nvSpPr>
          <p:cNvPr id="333" name="Text 23"/>
          <p:cNvSpPr txBox="1"/>
          <p:nvPr/>
        </p:nvSpPr>
        <p:spPr>
          <a:xfrm>
            <a:off x="1679464" y="4588616"/>
            <a:ext cx="4076703" cy="722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defRPr sz="1400">
                <a:solidFill>
                  <a:srgbClr val="2D2D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The system can be evaluated under image noise, camera jitter, atmospheric conditions and platform motion rather than only ideal scenes.</a:t>
            </a:r>
          </a:p>
        </p:txBody>
      </p:sp>
      <p:sp>
        <p:nvSpPr>
          <p:cNvPr id="334" name="Shape 24"/>
          <p:cNvSpPr/>
          <p:nvPr/>
        </p:nvSpPr>
        <p:spPr>
          <a:xfrm>
            <a:off x="307865" y="5379001"/>
            <a:ext cx="1325881" cy="804674"/>
          </a:xfrm>
          <a:prstGeom prst="rect">
            <a:avLst/>
          </a:prstGeom>
          <a:solidFill>
            <a:srgbClr val="E8EDF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 sz="22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35" name="Text 25"/>
          <p:cNvSpPr txBox="1"/>
          <p:nvPr/>
        </p:nvSpPr>
        <p:spPr>
          <a:xfrm>
            <a:off x="307865" y="5413037"/>
            <a:ext cx="130048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 algn="ctr" defTabSz="457200">
              <a:defRPr sz="1200" b="1" i="1">
                <a:solidFill>
                  <a:srgbClr val="14234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Repeatable Validation &amp;</a:t>
            </a:r>
          </a:p>
          <a:p>
            <a:pPr algn="ctr" defTabSz="457200">
              <a:defRPr sz="1200" b="1" i="1">
                <a:solidFill>
                  <a:srgbClr val="14234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Performance Evidence</a:t>
            </a:r>
          </a:p>
        </p:txBody>
      </p:sp>
      <p:sp>
        <p:nvSpPr>
          <p:cNvPr id="336" name="Text 26"/>
          <p:cNvSpPr txBox="1"/>
          <p:nvPr/>
        </p:nvSpPr>
        <p:spPr>
          <a:xfrm>
            <a:off x="1679464" y="5374107"/>
            <a:ext cx="4076703" cy="852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defRPr sz="1300">
                <a:solidFill>
                  <a:srgbClr val="2D2D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Ground truth remains on the evaluation path while synchronized logs, seeded scenarios and metrics support acquisition, tracking, FPS, re-acquisition and control analysis.</a:t>
            </a:r>
          </a:p>
        </p:txBody>
      </p:sp>
      <p:sp>
        <p:nvSpPr>
          <p:cNvPr id="337" name="Shape 30"/>
          <p:cNvSpPr/>
          <p:nvPr/>
        </p:nvSpPr>
        <p:spPr>
          <a:xfrm>
            <a:off x="6359175" y="1903095"/>
            <a:ext cx="1325882" cy="804674"/>
          </a:xfrm>
          <a:prstGeom prst="rect">
            <a:avLst/>
          </a:prstGeom>
          <a:solidFill>
            <a:srgbClr val="0D1B3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 sz="22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38" name="Text 31"/>
          <p:cNvSpPr txBox="1"/>
          <p:nvPr/>
        </p:nvSpPr>
        <p:spPr>
          <a:xfrm>
            <a:off x="6359175" y="2083752"/>
            <a:ext cx="1300482" cy="46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Scientific &amp; Technical</a:t>
            </a:r>
          </a:p>
        </p:txBody>
      </p:sp>
      <p:sp>
        <p:nvSpPr>
          <p:cNvPr id="339" name="Text 32"/>
          <p:cNvSpPr txBox="1"/>
          <p:nvPr/>
        </p:nvSpPr>
        <p:spPr>
          <a:xfrm>
            <a:off x="7730776" y="1999800"/>
            <a:ext cx="3939542" cy="649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defRPr sz="1300">
                <a:solidFill>
                  <a:srgbClr val="2D2D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Provides a software platform for developing and validating coarse alignment algorithms for narrow-beam FSOC without requiring the full real-hardware test setup.</a:t>
            </a:r>
          </a:p>
        </p:txBody>
      </p:sp>
      <p:sp>
        <p:nvSpPr>
          <p:cNvPr id="340" name="Shape 33"/>
          <p:cNvSpPr/>
          <p:nvPr/>
        </p:nvSpPr>
        <p:spPr>
          <a:xfrm>
            <a:off x="6359175" y="2753486"/>
            <a:ext cx="1325882" cy="804674"/>
          </a:xfrm>
          <a:prstGeom prst="rect">
            <a:avLst/>
          </a:prstGeom>
          <a:solidFill>
            <a:srgbClr val="0D1B3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 sz="22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41" name="Text 34"/>
          <p:cNvSpPr txBox="1"/>
          <p:nvPr/>
        </p:nvSpPr>
        <p:spPr>
          <a:xfrm>
            <a:off x="6359175" y="3048444"/>
            <a:ext cx="1300482" cy="240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Economic</a:t>
            </a:r>
          </a:p>
        </p:txBody>
      </p:sp>
      <p:sp>
        <p:nvSpPr>
          <p:cNvPr id="342" name="Text 35"/>
          <p:cNvSpPr txBox="1"/>
          <p:nvPr/>
        </p:nvSpPr>
        <p:spPr>
          <a:xfrm>
            <a:off x="7730776" y="2831143"/>
            <a:ext cx="3939542" cy="649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defRPr sz="1300">
                <a:solidFill>
                  <a:srgbClr val="2D2D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Reduces dependence on expensive cameras, pan-tilt mechanisms and optical components during early algorithm development, testing and learning.</a:t>
            </a:r>
          </a:p>
        </p:txBody>
      </p:sp>
      <p:sp>
        <p:nvSpPr>
          <p:cNvPr id="343" name="Shape 36"/>
          <p:cNvSpPr/>
          <p:nvPr/>
        </p:nvSpPr>
        <p:spPr>
          <a:xfrm>
            <a:off x="6359175" y="3603880"/>
            <a:ext cx="1325882" cy="804674"/>
          </a:xfrm>
          <a:prstGeom prst="rect">
            <a:avLst/>
          </a:prstGeom>
          <a:solidFill>
            <a:srgbClr val="0D1B3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 sz="22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44" name="Text 37"/>
          <p:cNvSpPr txBox="1"/>
          <p:nvPr/>
        </p:nvSpPr>
        <p:spPr>
          <a:xfrm>
            <a:off x="6359175" y="3898835"/>
            <a:ext cx="1300482" cy="240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Operational</a:t>
            </a:r>
          </a:p>
        </p:txBody>
      </p:sp>
      <p:sp>
        <p:nvSpPr>
          <p:cNvPr id="345" name="Text 38"/>
          <p:cNvSpPr txBox="1"/>
          <p:nvPr/>
        </p:nvSpPr>
        <p:spPr>
          <a:xfrm>
            <a:off x="7730776" y="3700584"/>
            <a:ext cx="3939542" cy="649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defRPr sz="1300">
                <a:solidFill>
                  <a:srgbClr val="2D2D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A modular closed-loop architecture supports real-time processing, controlled disturbances, target recovery and external .mp4 benchmark evaluation.</a:t>
            </a:r>
          </a:p>
        </p:txBody>
      </p:sp>
      <p:sp>
        <p:nvSpPr>
          <p:cNvPr id="346" name="Shape 39"/>
          <p:cNvSpPr/>
          <p:nvPr/>
        </p:nvSpPr>
        <p:spPr>
          <a:xfrm>
            <a:off x="6359175" y="4454271"/>
            <a:ext cx="1325882" cy="804674"/>
          </a:xfrm>
          <a:prstGeom prst="rect">
            <a:avLst/>
          </a:prstGeom>
          <a:solidFill>
            <a:srgbClr val="0D1B3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 sz="22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47" name="Text 40"/>
          <p:cNvSpPr txBox="1"/>
          <p:nvPr/>
        </p:nvSpPr>
        <p:spPr>
          <a:xfrm>
            <a:off x="6359175" y="4634928"/>
            <a:ext cx="1300482" cy="46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Innovation &amp; Education</a:t>
            </a:r>
          </a:p>
        </p:txBody>
      </p:sp>
      <p:sp>
        <p:nvSpPr>
          <p:cNvPr id="348" name="Text 41"/>
          <p:cNvSpPr txBox="1"/>
          <p:nvPr/>
        </p:nvSpPr>
        <p:spPr>
          <a:xfrm>
            <a:off x="7730776" y="4449376"/>
            <a:ext cx="3939542" cy="852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defRPr sz="1300">
                <a:solidFill>
                  <a:srgbClr val="2D2D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Creates an accessible environment for computer-vision and AI experimentation, while keeping classical processing as the explainable baseline and AI as an evidence-driven enhancement.</a:t>
            </a:r>
          </a:p>
        </p:txBody>
      </p:sp>
      <p:sp>
        <p:nvSpPr>
          <p:cNvPr id="349" name="Shape 42"/>
          <p:cNvSpPr/>
          <p:nvPr/>
        </p:nvSpPr>
        <p:spPr>
          <a:xfrm>
            <a:off x="6359175" y="5304663"/>
            <a:ext cx="1325882" cy="804674"/>
          </a:xfrm>
          <a:prstGeom prst="rect">
            <a:avLst/>
          </a:prstGeom>
          <a:solidFill>
            <a:srgbClr val="0D1B3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 sz="22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50" name="Text 43"/>
          <p:cNvSpPr txBox="1"/>
          <p:nvPr/>
        </p:nvSpPr>
        <p:spPr>
          <a:xfrm>
            <a:off x="6359175" y="5485319"/>
            <a:ext cx="1300482" cy="46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Strategic Space Technology</a:t>
            </a:r>
          </a:p>
        </p:txBody>
      </p:sp>
      <p:sp>
        <p:nvSpPr>
          <p:cNvPr id="351" name="Text 44"/>
          <p:cNvSpPr txBox="1"/>
          <p:nvPr/>
        </p:nvSpPr>
        <p:spPr>
          <a:xfrm>
            <a:off x="7730776" y="5401368"/>
            <a:ext cx="3939542" cy="649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defRPr sz="1300">
                <a:solidFill>
                  <a:srgbClr val="2D2D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Strengthens software capability for coarse pointing, acquisition and tracking in mobile optical links relevant to platforms such as satellites and UAVs.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Footer Placeholder 6"/>
          <p:cNvSpPr txBox="1"/>
          <p:nvPr/>
        </p:nvSpPr>
        <p:spPr>
          <a:xfrm>
            <a:off x="4693920" y="6404296"/>
            <a:ext cx="3112562" cy="26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 defTabSz="457200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r>
              <a:t>@SIH Idea submission- Template</a:t>
            </a:r>
          </a:p>
        </p:txBody>
      </p:sp>
      <p:sp>
        <p:nvSpPr>
          <p:cNvPr id="356" name="Rectangle 9"/>
          <p:cNvSpPr/>
          <p:nvPr/>
        </p:nvSpPr>
        <p:spPr>
          <a:xfrm>
            <a:off x="-2" y="6354762"/>
            <a:ext cx="12192003" cy="503240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0" tIns="0" rIns="0" bIns="0" anchor="ctr"/>
          <a:lstStyle/>
          <a:p>
            <a:pPr algn="ctr" defTabSz="457200">
              <a:defRPr>
                <a:solidFill>
                  <a:srgbClr val="953735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57" name="Title 1"/>
          <p:cNvSpPr txBox="1">
            <a:spLocks noGrp="1"/>
          </p:cNvSpPr>
          <p:nvPr>
            <p:ph type="title"/>
          </p:nvPr>
        </p:nvSpPr>
        <p:spPr>
          <a:xfrm>
            <a:off x="269267" y="189866"/>
            <a:ext cx="10972801" cy="932094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RESEARCH  AND REFERENCES</a:t>
            </a:r>
          </a:p>
        </p:txBody>
      </p:sp>
      <p:sp>
        <p:nvSpPr>
          <p:cNvPr id="358" name="Slide Number Placeholder 5"/>
          <p:cNvSpPr txBox="1">
            <a:spLocks noGrp="1"/>
          </p:cNvSpPr>
          <p:nvPr>
            <p:ph type="sldNum" sz="quarter" idx="4294967295"/>
          </p:nvPr>
        </p:nvSpPr>
        <p:spPr>
          <a:xfrm>
            <a:off x="11393501" y="6404295"/>
            <a:ext cx="188897" cy="269239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defTabSz="457200">
              <a:defRPr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6</a:t>
            </a:fld>
            <a:endParaRPr/>
          </a:p>
        </p:txBody>
      </p:sp>
      <p:grpSp>
        <p:nvGrpSpPr>
          <p:cNvPr id="361" name="Oval 8"/>
          <p:cNvGrpSpPr/>
          <p:nvPr/>
        </p:nvGrpSpPr>
        <p:grpSpPr>
          <a:xfrm>
            <a:off x="329771" y="252243"/>
            <a:ext cx="1251861" cy="807339"/>
            <a:chOff x="0" y="-1"/>
            <a:chExt cx="1251860" cy="807338"/>
          </a:xfrm>
        </p:grpSpPr>
        <p:sp>
          <p:nvSpPr>
            <p:cNvPr id="359" name="Oval"/>
            <p:cNvSpPr/>
            <p:nvPr/>
          </p:nvSpPr>
          <p:spPr>
            <a:xfrm>
              <a:off x="-1" y="-2"/>
              <a:ext cx="1251861" cy="807339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360" name="Team Zenith"/>
            <p:cNvSpPr txBox="1"/>
            <p:nvPr/>
          </p:nvSpPr>
          <p:spPr>
            <a:xfrm>
              <a:off x="241749" y="91073"/>
              <a:ext cx="768360" cy="6251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t>Team Zenith</a:t>
              </a:r>
            </a:p>
          </p:txBody>
        </p:sp>
      </p:grpSp>
      <p:pic>
        <p:nvPicPr>
          <p:cNvPr id="362" name="Picture 11" descr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5" y="1500"/>
            <a:ext cx="2249853" cy="1062337"/>
          </a:xfrm>
          <a:prstGeom prst="rect">
            <a:avLst/>
          </a:prstGeom>
          <a:ln w="12700">
            <a:miter lim="400000"/>
          </a:ln>
        </p:spPr>
      </p:pic>
      <p:sp>
        <p:nvSpPr>
          <p:cNvPr id="363" name="Footer Placeholder 6"/>
          <p:cNvSpPr txBox="1"/>
          <p:nvPr/>
        </p:nvSpPr>
        <p:spPr>
          <a:xfrm>
            <a:off x="4671963" y="5934809"/>
            <a:ext cx="3112562" cy="26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 defTabSz="457200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r>
              <a:t>@SIH Idea submission- Template</a:t>
            </a:r>
          </a:p>
        </p:txBody>
      </p:sp>
      <p:sp>
        <p:nvSpPr>
          <p:cNvPr id="364" name="TextBox 109"/>
          <p:cNvSpPr txBox="1"/>
          <p:nvPr/>
        </p:nvSpPr>
        <p:spPr>
          <a:xfrm>
            <a:off x="3640723" y="5722273"/>
            <a:ext cx="4866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600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* GRU kept only when experiments prove benefit after latency / compute cost.</a:t>
            </a:r>
          </a:p>
        </p:txBody>
      </p:sp>
      <p:sp>
        <p:nvSpPr>
          <p:cNvPr id="365" name="Rectangle 5"/>
          <p:cNvSpPr/>
          <p:nvPr/>
        </p:nvSpPr>
        <p:spPr>
          <a:xfrm>
            <a:off x="3631221" y="804574"/>
            <a:ext cx="45719" cy="5550188"/>
          </a:xfrm>
          <a:prstGeom prst="rect">
            <a:avLst/>
          </a:prstGeom>
          <a:solidFill>
            <a:srgbClr val="347EBE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66" name="Rectangle 6"/>
          <p:cNvSpPr/>
          <p:nvPr/>
        </p:nvSpPr>
        <p:spPr>
          <a:xfrm flipH="1">
            <a:off x="9037362" y="868895"/>
            <a:ext cx="45719" cy="5485867"/>
          </a:xfrm>
          <a:prstGeom prst="rect">
            <a:avLst/>
          </a:prstGeom>
          <a:solidFill>
            <a:srgbClr val="347EBE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67" name="TextBox 7"/>
          <p:cNvSpPr txBox="1"/>
          <p:nvPr/>
        </p:nvSpPr>
        <p:spPr>
          <a:xfrm>
            <a:off x="211518" y="1163667"/>
            <a:ext cx="344932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3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PROBLEM / DOMAIN FOUNDATION:</a:t>
            </a:r>
          </a:p>
        </p:txBody>
      </p:sp>
      <p:sp>
        <p:nvSpPr>
          <p:cNvPr id="368" name="TextBox 8"/>
          <p:cNvSpPr txBox="1"/>
          <p:nvPr/>
        </p:nvSpPr>
        <p:spPr>
          <a:xfrm>
            <a:off x="119697" y="1452851"/>
            <a:ext cx="322072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700" b="1">
                <a:solidFill>
                  <a:srgbClr val="347EB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FSOC + PAT</a:t>
            </a:r>
          </a:p>
        </p:txBody>
      </p:sp>
      <p:sp>
        <p:nvSpPr>
          <p:cNvPr id="369" name="TextBox 9"/>
          <p:cNvSpPr txBox="1"/>
          <p:nvPr/>
        </p:nvSpPr>
        <p:spPr>
          <a:xfrm>
            <a:off x="119697" y="1754603"/>
            <a:ext cx="3248153" cy="504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900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Free-space optical communication uses a narrow optical beam. Pointing, Acquisition and Tracking (PAT) must keep the remote terminal inside the receiver camera field-of-view before fine alignment can take over.</a:t>
            </a:r>
          </a:p>
        </p:txBody>
      </p:sp>
      <p:sp>
        <p:nvSpPr>
          <p:cNvPr id="370" name="Rounded Rectangle 10"/>
          <p:cNvSpPr/>
          <p:nvPr/>
        </p:nvSpPr>
        <p:spPr>
          <a:xfrm>
            <a:off x="399605" y="2394683"/>
            <a:ext cx="640081" cy="301753"/>
          </a:xfrm>
          <a:prstGeom prst="roundRect">
            <a:avLst>
              <a:gd name="adj" fmla="val 16667"/>
            </a:avLst>
          </a:prstGeom>
          <a:solidFill>
            <a:srgbClr val="4C5056"/>
          </a:solidFill>
          <a:ln w="10160">
            <a:solidFill>
              <a:srgbClr val="121212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71" name="Rectangle 11"/>
          <p:cNvSpPr/>
          <p:nvPr/>
        </p:nvSpPr>
        <p:spPr>
          <a:xfrm>
            <a:off x="399605" y="2330675"/>
            <a:ext cx="237744" cy="438913"/>
          </a:xfrm>
          <a:prstGeom prst="rect">
            <a:avLst/>
          </a:prstGeom>
          <a:solidFill>
            <a:srgbClr val="84A1B9"/>
          </a:solidFill>
          <a:ln>
            <a:solidFill>
              <a:srgbClr val="485D7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72" name="Rectangle 12"/>
          <p:cNvSpPr/>
          <p:nvPr/>
        </p:nvSpPr>
        <p:spPr>
          <a:xfrm>
            <a:off x="1222565" y="2330675"/>
            <a:ext cx="237744" cy="438913"/>
          </a:xfrm>
          <a:prstGeom prst="rect">
            <a:avLst/>
          </a:prstGeom>
          <a:solidFill>
            <a:srgbClr val="84A1B9"/>
          </a:solidFill>
          <a:ln>
            <a:solidFill>
              <a:srgbClr val="485D7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73" name="Connector 13"/>
          <p:cNvSpPr/>
          <p:nvPr/>
        </p:nvSpPr>
        <p:spPr>
          <a:xfrm>
            <a:off x="1460309" y="2440403"/>
            <a:ext cx="1225297" cy="128016"/>
          </a:xfrm>
          <a:prstGeom prst="line">
            <a:avLst/>
          </a:prstGeom>
          <a:ln w="21590">
            <a:solidFill>
              <a:srgbClr val="347EBE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457200">
              <a:defRPr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74" name="Connector 14"/>
          <p:cNvSpPr/>
          <p:nvPr/>
        </p:nvSpPr>
        <p:spPr>
          <a:xfrm>
            <a:off x="1460309" y="2531843"/>
            <a:ext cx="1225297" cy="128016"/>
          </a:xfrm>
          <a:prstGeom prst="line">
            <a:avLst/>
          </a:prstGeom>
          <a:ln w="21590">
            <a:solidFill>
              <a:srgbClr val="347EBE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457200">
              <a:defRPr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75" name="Connector 15"/>
          <p:cNvSpPr/>
          <p:nvPr/>
        </p:nvSpPr>
        <p:spPr>
          <a:xfrm>
            <a:off x="1460309" y="2623283"/>
            <a:ext cx="1225297" cy="128017"/>
          </a:xfrm>
          <a:prstGeom prst="line">
            <a:avLst/>
          </a:prstGeom>
          <a:ln w="21590">
            <a:solidFill>
              <a:srgbClr val="347EBE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457200">
              <a:defRPr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76" name="Rounded Rectangle 16"/>
          <p:cNvSpPr/>
          <p:nvPr/>
        </p:nvSpPr>
        <p:spPr>
          <a:xfrm>
            <a:off x="2713037" y="2348963"/>
            <a:ext cx="658369" cy="393193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0160">
            <a:solidFill>
              <a:srgbClr val="4B4B4B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77" name="Oval 17"/>
          <p:cNvSpPr/>
          <p:nvPr/>
        </p:nvSpPr>
        <p:spPr>
          <a:xfrm>
            <a:off x="3197669" y="2394683"/>
            <a:ext cx="146305" cy="301753"/>
          </a:xfrm>
          <a:prstGeom prst="ellipse">
            <a:avLst/>
          </a:prstGeom>
          <a:solidFill>
            <a:srgbClr val="30373E"/>
          </a:solidFill>
          <a:ln>
            <a:solidFill>
              <a:srgbClr val="121212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78" name="TextBox 18"/>
          <p:cNvSpPr txBox="1"/>
          <p:nvPr/>
        </p:nvSpPr>
        <p:spPr>
          <a:xfrm>
            <a:off x="211137" y="2824451"/>
            <a:ext cx="3175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900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Mobile / airborne terminal  →  optical beam  →  receiver</a:t>
            </a:r>
          </a:p>
        </p:txBody>
      </p:sp>
      <p:sp>
        <p:nvSpPr>
          <p:cNvPr id="379" name="TextBox 19"/>
          <p:cNvSpPr txBox="1"/>
          <p:nvPr/>
        </p:nvSpPr>
        <p:spPr>
          <a:xfrm>
            <a:off x="92265" y="3098771"/>
            <a:ext cx="344932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0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WHY VALIDATION IS REQUIRED:</a:t>
            </a:r>
          </a:p>
        </p:txBody>
      </p:sp>
      <p:sp>
        <p:nvSpPr>
          <p:cNvPr id="380" name="Rounded Rectangle 20"/>
          <p:cNvSpPr/>
          <p:nvPr/>
        </p:nvSpPr>
        <p:spPr>
          <a:xfrm>
            <a:off x="88709" y="3373091"/>
            <a:ext cx="3328417" cy="1069849"/>
          </a:xfrm>
          <a:prstGeom prst="roundRect">
            <a:avLst>
              <a:gd name="adj" fmla="val 16667"/>
            </a:avLst>
          </a:prstGeom>
          <a:solidFill>
            <a:srgbClr val="F7F9FB"/>
          </a:solidFill>
          <a:ln w="10160">
            <a:solidFill>
              <a:srgbClr val="CDD6E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81" name="TextBox 21"/>
          <p:cNvSpPr txBox="1"/>
          <p:nvPr/>
        </p:nvSpPr>
        <p:spPr>
          <a:xfrm>
            <a:off x="192849" y="3482819"/>
            <a:ext cx="3101849" cy="885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457200">
              <a:defRPr sz="900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Motion changes the target position continuously.</a:t>
            </a:r>
            <a:br/>
            <a:r>
              <a:t>• Sensor noise, blur, contrast loss and jitter degrade observations.</a:t>
            </a:r>
            <a:br/>
            <a:r>
              <a:t>• Processing + actuation delay can cause the controller to chase stale positions.</a:t>
            </a:r>
            <a:br/>
            <a:r>
              <a:t>• Temporary target loss requires reliable recovery, not just one-frame detection.</a:t>
            </a:r>
          </a:p>
        </p:txBody>
      </p:sp>
      <p:sp>
        <p:nvSpPr>
          <p:cNvPr id="382" name="TextBox 22"/>
          <p:cNvSpPr txBox="1"/>
          <p:nvPr/>
        </p:nvSpPr>
        <p:spPr>
          <a:xfrm>
            <a:off x="92265" y="4616675"/>
            <a:ext cx="344932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5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REFERENCE / SYSTEM TARGETS:</a:t>
            </a:r>
          </a:p>
        </p:txBody>
      </p:sp>
      <p:sp>
        <p:nvSpPr>
          <p:cNvPr id="383" name="TextBox 23"/>
          <p:cNvSpPr txBox="1"/>
          <p:nvPr/>
        </p:nvSpPr>
        <p:spPr>
          <a:xfrm>
            <a:off x="119697" y="4872707"/>
            <a:ext cx="79756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200" b="1">
                <a:solidFill>
                  <a:srgbClr val="2C659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Camera</a:t>
            </a:r>
          </a:p>
        </p:txBody>
      </p:sp>
      <p:sp>
        <p:nvSpPr>
          <p:cNvPr id="384" name="TextBox 24"/>
          <p:cNvSpPr txBox="1"/>
          <p:nvPr/>
        </p:nvSpPr>
        <p:spPr>
          <a:xfrm>
            <a:off x="970089" y="4872707"/>
            <a:ext cx="239776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200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640×480 • FOV 4°×3°</a:t>
            </a:r>
          </a:p>
        </p:txBody>
      </p:sp>
      <p:sp>
        <p:nvSpPr>
          <p:cNvPr id="385" name="TextBox 25"/>
          <p:cNvSpPr txBox="1"/>
          <p:nvPr/>
        </p:nvSpPr>
        <p:spPr>
          <a:xfrm>
            <a:off x="119697" y="5137883"/>
            <a:ext cx="79756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200" b="1">
                <a:solidFill>
                  <a:srgbClr val="2C659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Timing</a:t>
            </a:r>
          </a:p>
        </p:txBody>
      </p:sp>
      <p:sp>
        <p:nvSpPr>
          <p:cNvPr id="386" name="TextBox 26"/>
          <p:cNvSpPr txBox="1"/>
          <p:nvPr/>
        </p:nvSpPr>
        <p:spPr>
          <a:xfrm>
            <a:off x="970089" y="5137883"/>
            <a:ext cx="239776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200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≥20 FPS • preferably 30 Hz</a:t>
            </a:r>
          </a:p>
        </p:txBody>
      </p:sp>
      <p:sp>
        <p:nvSpPr>
          <p:cNvPr id="387" name="TextBox 27"/>
          <p:cNvSpPr txBox="1"/>
          <p:nvPr/>
        </p:nvSpPr>
        <p:spPr>
          <a:xfrm>
            <a:off x="119697" y="5403059"/>
            <a:ext cx="797561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100" b="1">
                <a:solidFill>
                  <a:srgbClr val="2C659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Acquisition</a:t>
            </a:r>
          </a:p>
        </p:txBody>
      </p:sp>
      <p:sp>
        <p:nvSpPr>
          <p:cNvPr id="388" name="TextBox 28"/>
          <p:cNvSpPr txBox="1"/>
          <p:nvPr/>
        </p:nvSpPr>
        <p:spPr>
          <a:xfrm>
            <a:off x="970089" y="5403059"/>
            <a:ext cx="239776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200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≤2 s to confirmed lock</a:t>
            </a:r>
          </a:p>
        </p:txBody>
      </p:sp>
      <p:sp>
        <p:nvSpPr>
          <p:cNvPr id="389" name="TextBox 29"/>
          <p:cNvSpPr txBox="1"/>
          <p:nvPr/>
        </p:nvSpPr>
        <p:spPr>
          <a:xfrm>
            <a:off x="119696" y="5657111"/>
            <a:ext cx="79756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200" b="1">
                <a:solidFill>
                  <a:srgbClr val="2C659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Tracking</a:t>
            </a:r>
          </a:p>
        </p:txBody>
      </p:sp>
      <p:sp>
        <p:nvSpPr>
          <p:cNvPr id="390" name="TextBox 30"/>
          <p:cNvSpPr txBox="1"/>
          <p:nvPr/>
        </p:nvSpPr>
        <p:spPr>
          <a:xfrm>
            <a:off x="970089" y="5668235"/>
            <a:ext cx="239776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200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≤10 px working target</a:t>
            </a:r>
          </a:p>
        </p:txBody>
      </p:sp>
      <p:sp>
        <p:nvSpPr>
          <p:cNvPr id="391" name="TextBox 31"/>
          <p:cNvSpPr txBox="1"/>
          <p:nvPr/>
        </p:nvSpPr>
        <p:spPr>
          <a:xfrm>
            <a:off x="119697" y="5933411"/>
            <a:ext cx="79756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200" b="1">
                <a:solidFill>
                  <a:srgbClr val="2C659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Recovery</a:t>
            </a:r>
          </a:p>
        </p:txBody>
      </p:sp>
      <p:sp>
        <p:nvSpPr>
          <p:cNvPr id="392" name="TextBox 32"/>
          <p:cNvSpPr txBox="1"/>
          <p:nvPr/>
        </p:nvSpPr>
        <p:spPr>
          <a:xfrm>
            <a:off x="970089" y="5933411"/>
            <a:ext cx="239776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200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Loss &lt;5% • reacquisition ≤1 s</a:t>
            </a:r>
          </a:p>
        </p:txBody>
      </p:sp>
      <p:sp>
        <p:nvSpPr>
          <p:cNvPr id="393" name="TextBox 33"/>
          <p:cNvSpPr txBox="1"/>
          <p:nvPr/>
        </p:nvSpPr>
        <p:spPr>
          <a:xfrm>
            <a:off x="3839055" y="1083402"/>
            <a:ext cx="491236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2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OUR RESEARCH FOUNDATION:</a:t>
            </a:r>
          </a:p>
        </p:txBody>
      </p:sp>
      <p:sp>
        <p:nvSpPr>
          <p:cNvPr id="394" name="Rounded Rectangle 34"/>
          <p:cNvSpPr/>
          <p:nvPr/>
        </p:nvSpPr>
        <p:spPr>
          <a:xfrm>
            <a:off x="3839780" y="1356799"/>
            <a:ext cx="2267713" cy="1318385"/>
          </a:xfrm>
          <a:prstGeom prst="roundRect">
            <a:avLst>
              <a:gd name="adj" fmla="val 15613"/>
            </a:avLst>
          </a:prstGeom>
          <a:solidFill>
            <a:srgbClr val="E5EFF8"/>
          </a:solidFill>
          <a:ln w="15240">
            <a:solidFill>
              <a:srgbClr val="347EBE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95" name="TextBox 35"/>
          <p:cNvSpPr txBox="1"/>
          <p:nvPr/>
        </p:nvSpPr>
        <p:spPr>
          <a:xfrm>
            <a:off x="3998784" y="1466527"/>
            <a:ext cx="191312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2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KALMAN FILTER</a:t>
            </a:r>
          </a:p>
        </p:txBody>
      </p:sp>
      <p:sp>
        <p:nvSpPr>
          <p:cNvPr id="396" name="TextBox 36"/>
          <p:cNvSpPr txBox="1"/>
          <p:nvPr/>
        </p:nvSpPr>
        <p:spPr>
          <a:xfrm>
            <a:off x="3998784" y="1722560"/>
            <a:ext cx="189484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000" b="1">
                <a:solidFill>
                  <a:srgbClr val="347EB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State estimation</a:t>
            </a:r>
          </a:p>
        </p:txBody>
      </p:sp>
      <p:sp>
        <p:nvSpPr>
          <p:cNvPr id="397" name="TextBox 37"/>
          <p:cNvSpPr txBox="1"/>
          <p:nvPr/>
        </p:nvSpPr>
        <p:spPr>
          <a:xfrm>
            <a:off x="3998784" y="1969448"/>
            <a:ext cx="1894841" cy="631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900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dirty="0"/>
              <a:t>Uses recent measurements to estimate position and velocity, suppress noise, maintain temporal continuity and support short-term coasting.</a:t>
            </a:r>
          </a:p>
        </p:txBody>
      </p:sp>
      <p:sp>
        <p:nvSpPr>
          <p:cNvPr id="398" name="Rounded Rectangle 38"/>
          <p:cNvSpPr/>
          <p:nvPr/>
        </p:nvSpPr>
        <p:spPr>
          <a:xfrm>
            <a:off x="6502717" y="1293338"/>
            <a:ext cx="2267713" cy="1234505"/>
          </a:xfrm>
          <a:prstGeom prst="roundRect">
            <a:avLst>
              <a:gd name="adj" fmla="val 16667"/>
            </a:avLst>
          </a:prstGeom>
          <a:solidFill>
            <a:srgbClr val="F3EDF9"/>
          </a:solidFill>
          <a:ln w="15240">
            <a:solidFill>
              <a:srgbClr val="7E5CA5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99" name="TextBox 39"/>
          <p:cNvSpPr txBox="1"/>
          <p:nvPr/>
        </p:nvSpPr>
        <p:spPr>
          <a:xfrm>
            <a:off x="6749177" y="1455734"/>
            <a:ext cx="191312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2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GRU</a:t>
            </a:r>
          </a:p>
        </p:txBody>
      </p:sp>
      <p:sp>
        <p:nvSpPr>
          <p:cNvPr id="400" name="TextBox 40"/>
          <p:cNvSpPr txBox="1"/>
          <p:nvPr/>
        </p:nvSpPr>
        <p:spPr>
          <a:xfrm>
            <a:off x="6749177" y="1711767"/>
            <a:ext cx="189484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000" b="1">
                <a:solidFill>
                  <a:srgbClr val="7E5CA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Nonlinear residual prediction</a:t>
            </a:r>
          </a:p>
        </p:txBody>
      </p:sp>
      <p:sp>
        <p:nvSpPr>
          <p:cNvPr id="401" name="TextBox 41"/>
          <p:cNvSpPr txBox="1"/>
          <p:nvPr/>
        </p:nvSpPr>
        <p:spPr>
          <a:xfrm>
            <a:off x="6749177" y="1958655"/>
            <a:ext cx="1894841" cy="504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900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dirty="0"/>
              <a:t>Learns the motion residual left by the classical predictor and estimates future target position at the actual delay horizon.</a:t>
            </a:r>
          </a:p>
        </p:txBody>
      </p:sp>
      <p:sp>
        <p:nvSpPr>
          <p:cNvPr id="402" name="Rounded Rectangle 42"/>
          <p:cNvSpPr/>
          <p:nvPr/>
        </p:nvSpPr>
        <p:spPr>
          <a:xfrm>
            <a:off x="3867975" y="2760720"/>
            <a:ext cx="2267713" cy="1170433"/>
          </a:xfrm>
          <a:prstGeom prst="roundRect">
            <a:avLst>
              <a:gd name="adj" fmla="val 16667"/>
            </a:avLst>
          </a:prstGeom>
          <a:solidFill>
            <a:srgbClr val="EDF6F0"/>
          </a:solidFill>
          <a:ln w="15240">
            <a:solidFill>
              <a:srgbClr val="4D846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03" name="TextBox 43"/>
          <p:cNvSpPr txBox="1"/>
          <p:nvPr/>
        </p:nvSpPr>
        <p:spPr>
          <a:xfrm>
            <a:off x="4026773" y="2886841"/>
            <a:ext cx="1913129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2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PD / PID</a:t>
            </a:r>
          </a:p>
        </p:txBody>
      </p:sp>
      <p:sp>
        <p:nvSpPr>
          <p:cNvPr id="404" name="TextBox 44"/>
          <p:cNvSpPr txBox="1"/>
          <p:nvPr/>
        </p:nvSpPr>
        <p:spPr>
          <a:xfrm>
            <a:off x="4026979" y="3126480"/>
            <a:ext cx="189484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000" b="1">
                <a:solidFill>
                  <a:srgbClr val="4D846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Feedback control</a:t>
            </a:r>
          </a:p>
        </p:txBody>
      </p:sp>
      <p:sp>
        <p:nvSpPr>
          <p:cNvPr id="405" name="TextBox 45"/>
          <p:cNvSpPr txBox="1"/>
          <p:nvPr/>
        </p:nvSpPr>
        <p:spPr>
          <a:xfrm>
            <a:off x="4026979" y="3373368"/>
            <a:ext cx="1894841" cy="504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900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Converts image-space pointing error into bounded pan/tilt commands; feed-forward can add reliable motion information.</a:t>
            </a:r>
          </a:p>
        </p:txBody>
      </p:sp>
      <p:sp>
        <p:nvSpPr>
          <p:cNvPr id="406" name="Rounded Rectangle 46"/>
          <p:cNvSpPr/>
          <p:nvPr/>
        </p:nvSpPr>
        <p:spPr>
          <a:xfrm>
            <a:off x="6418388" y="2603471"/>
            <a:ext cx="2267713" cy="1350976"/>
          </a:xfrm>
          <a:prstGeom prst="roundRect">
            <a:avLst>
              <a:gd name="adj" fmla="val 15638"/>
            </a:avLst>
          </a:prstGeom>
          <a:solidFill>
            <a:srgbClr val="F7F9FB"/>
          </a:solidFill>
          <a:ln w="15240">
            <a:solidFill>
              <a:srgbClr val="2C659D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07" name="TextBox 47"/>
          <p:cNvSpPr txBox="1"/>
          <p:nvPr/>
        </p:nvSpPr>
        <p:spPr>
          <a:xfrm>
            <a:off x="6577392" y="2713199"/>
            <a:ext cx="191312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2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COMPUTER VISION</a:t>
            </a:r>
          </a:p>
        </p:txBody>
      </p:sp>
      <p:sp>
        <p:nvSpPr>
          <p:cNvPr id="408" name="TextBox 48"/>
          <p:cNvSpPr txBox="1"/>
          <p:nvPr/>
        </p:nvSpPr>
        <p:spPr>
          <a:xfrm>
            <a:off x="6577392" y="2969231"/>
            <a:ext cx="189484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000" b="1">
                <a:solidFill>
                  <a:srgbClr val="2C659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Beacon detection + centroiding</a:t>
            </a:r>
          </a:p>
        </p:txBody>
      </p:sp>
      <p:sp>
        <p:nvSpPr>
          <p:cNvPr id="409" name="TextBox 49"/>
          <p:cNvSpPr txBox="1"/>
          <p:nvPr/>
        </p:nvSpPr>
        <p:spPr>
          <a:xfrm>
            <a:off x="6577392" y="3216119"/>
            <a:ext cx="1894841" cy="631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900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dirty="0"/>
              <a:t>Adaptive preprocessing, thresholding, blob geometry, confidence scoring and sub-pixel localization provide the visual measurement.</a:t>
            </a:r>
          </a:p>
        </p:txBody>
      </p:sp>
      <p:sp>
        <p:nvSpPr>
          <p:cNvPr id="410" name="TextBox 50"/>
          <p:cNvSpPr txBox="1"/>
          <p:nvPr/>
        </p:nvSpPr>
        <p:spPr>
          <a:xfrm>
            <a:off x="3869167" y="4088704"/>
            <a:ext cx="4912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9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WHY THIS HYBRID APPROACH?</a:t>
            </a:r>
          </a:p>
        </p:txBody>
      </p:sp>
      <p:sp>
        <p:nvSpPr>
          <p:cNvPr id="411" name="Rounded Rectangle 51"/>
          <p:cNvSpPr/>
          <p:nvPr/>
        </p:nvSpPr>
        <p:spPr>
          <a:xfrm>
            <a:off x="3828605" y="4227007"/>
            <a:ext cx="4828033" cy="758953"/>
          </a:xfrm>
          <a:prstGeom prst="roundRect">
            <a:avLst>
              <a:gd name="adj" fmla="val 16667"/>
            </a:avLst>
          </a:prstGeom>
          <a:solidFill>
            <a:srgbClr val="E5EFF8"/>
          </a:solidFill>
          <a:ln w="11430">
            <a:solidFill>
              <a:srgbClr val="A1BAD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12" name="TextBox 52"/>
          <p:cNvSpPr txBox="1"/>
          <p:nvPr/>
        </p:nvSpPr>
        <p:spPr>
          <a:xfrm>
            <a:off x="3960177" y="4430345"/>
            <a:ext cx="4564889" cy="339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457200">
              <a:defRPr sz="800">
                <a:solidFill>
                  <a:srgbClr val="2C659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Classical methods handle normal cases with low compute and predictable behavior. AI is added only for nonlinear future-motion compensation, and it must prove a measurable closed-loop benefit after latency and inference cost.</a:t>
            </a:r>
          </a:p>
        </p:txBody>
      </p:sp>
      <p:sp>
        <p:nvSpPr>
          <p:cNvPr id="413" name="TextBox 53"/>
          <p:cNvSpPr txBox="1"/>
          <p:nvPr/>
        </p:nvSpPr>
        <p:spPr>
          <a:xfrm>
            <a:off x="3866958" y="5015614"/>
            <a:ext cx="4912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9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FEASIBILITY COMPARISON:</a:t>
            </a:r>
          </a:p>
        </p:txBody>
      </p:sp>
      <p:sp>
        <p:nvSpPr>
          <p:cNvPr id="414" name="Rectangle 54"/>
          <p:cNvSpPr/>
          <p:nvPr/>
        </p:nvSpPr>
        <p:spPr>
          <a:xfrm>
            <a:off x="3806648" y="5171316"/>
            <a:ext cx="1170433" cy="219457"/>
          </a:xfrm>
          <a:prstGeom prst="rect">
            <a:avLst/>
          </a:prstGeom>
          <a:solidFill>
            <a:srgbClr val="E5EFF8"/>
          </a:solidFill>
          <a:ln>
            <a:solidFill>
              <a:srgbClr val="B7C4D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15" name="TextBox 55"/>
          <p:cNvSpPr txBox="1"/>
          <p:nvPr/>
        </p:nvSpPr>
        <p:spPr>
          <a:xfrm>
            <a:off x="3828491" y="5194175"/>
            <a:ext cx="11267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6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APPROACH</a:t>
            </a:r>
          </a:p>
        </p:txBody>
      </p:sp>
      <p:sp>
        <p:nvSpPr>
          <p:cNvPr id="416" name="Rectangle 56"/>
          <p:cNvSpPr/>
          <p:nvPr/>
        </p:nvSpPr>
        <p:spPr>
          <a:xfrm>
            <a:off x="4977080" y="5171316"/>
            <a:ext cx="758953" cy="219457"/>
          </a:xfrm>
          <a:prstGeom prst="rect">
            <a:avLst/>
          </a:prstGeom>
          <a:solidFill>
            <a:srgbClr val="E5EFF8"/>
          </a:solidFill>
          <a:ln>
            <a:solidFill>
              <a:srgbClr val="B7C4D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17" name="TextBox 57"/>
          <p:cNvSpPr txBox="1"/>
          <p:nvPr/>
        </p:nvSpPr>
        <p:spPr>
          <a:xfrm>
            <a:off x="4998924" y="5194175"/>
            <a:ext cx="71526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6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ACCURACY</a:t>
            </a:r>
          </a:p>
        </p:txBody>
      </p:sp>
      <p:sp>
        <p:nvSpPr>
          <p:cNvPr id="418" name="Rectangle 58"/>
          <p:cNvSpPr/>
          <p:nvPr/>
        </p:nvSpPr>
        <p:spPr>
          <a:xfrm>
            <a:off x="5736032" y="5171316"/>
            <a:ext cx="758953" cy="219457"/>
          </a:xfrm>
          <a:prstGeom prst="rect">
            <a:avLst/>
          </a:prstGeom>
          <a:solidFill>
            <a:srgbClr val="E5EFF8"/>
          </a:solidFill>
          <a:ln>
            <a:solidFill>
              <a:srgbClr val="B7C4D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19" name="TextBox 59"/>
          <p:cNvSpPr txBox="1"/>
          <p:nvPr/>
        </p:nvSpPr>
        <p:spPr>
          <a:xfrm>
            <a:off x="5757876" y="5194175"/>
            <a:ext cx="71526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6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COMPUTE</a:t>
            </a:r>
          </a:p>
        </p:txBody>
      </p:sp>
      <p:sp>
        <p:nvSpPr>
          <p:cNvPr id="420" name="Rectangle 60"/>
          <p:cNvSpPr/>
          <p:nvPr/>
        </p:nvSpPr>
        <p:spPr>
          <a:xfrm>
            <a:off x="6494984" y="5171316"/>
            <a:ext cx="1060705" cy="219457"/>
          </a:xfrm>
          <a:prstGeom prst="rect">
            <a:avLst/>
          </a:prstGeom>
          <a:solidFill>
            <a:srgbClr val="E5EFF8"/>
          </a:solidFill>
          <a:ln>
            <a:solidFill>
              <a:srgbClr val="B7C4D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21" name="TextBox 61"/>
          <p:cNvSpPr txBox="1"/>
          <p:nvPr/>
        </p:nvSpPr>
        <p:spPr>
          <a:xfrm>
            <a:off x="6516829" y="5194175"/>
            <a:ext cx="101701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6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REAL-TIME</a:t>
            </a:r>
          </a:p>
        </p:txBody>
      </p:sp>
      <p:sp>
        <p:nvSpPr>
          <p:cNvPr id="422" name="Rectangle 62"/>
          <p:cNvSpPr/>
          <p:nvPr/>
        </p:nvSpPr>
        <p:spPr>
          <a:xfrm>
            <a:off x="7555689" y="5171316"/>
            <a:ext cx="1078993" cy="219457"/>
          </a:xfrm>
          <a:prstGeom prst="rect">
            <a:avLst/>
          </a:prstGeom>
          <a:solidFill>
            <a:srgbClr val="E5EFF8"/>
          </a:solidFill>
          <a:ln>
            <a:solidFill>
              <a:srgbClr val="B7C4D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23" name="TextBox 63"/>
          <p:cNvSpPr txBox="1"/>
          <p:nvPr/>
        </p:nvSpPr>
        <p:spPr>
          <a:xfrm>
            <a:off x="7577532" y="5194175"/>
            <a:ext cx="103530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6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FSOC FIT</a:t>
            </a:r>
          </a:p>
        </p:txBody>
      </p:sp>
      <p:sp>
        <p:nvSpPr>
          <p:cNvPr id="424" name="Rectangle 64"/>
          <p:cNvSpPr/>
          <p:nvPr/>
        </p:nvSpPr>
        <p:spPr>
          <a:xfrm>
            <a:off x="3806648" y="5390772"/>
            <a:ext cx="1170433" cy="219457"/>
          </a:xfrm>
          <a:prstGeom prst="rect">
            <a:avLst/>
          </a:prstGeom>
          <a:solidFill>
            <a:srgbClr val="FFFFFF"/>
          </a:solidFill>
          <a:ln>
            <a:solidFill>
              <a:srgbClr val="B7C4D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25" name="TextBox 65"/>
          <p:cNvSpPr txBox="1"/>
          <p:nvPr/>
        </p:nvSpPr>
        <p:spPr>
          <a:xfrm>
            <a:off x="3828491" y="5413632"/>
            <a:ext cx="11267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6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Reactive</a:t>
            </a:r>
          </a:p>
        </p:txBody>
      </p:sp>
      <p:sp>
        <p:nvSpPr>
          <p:cNvPr id="426" name="Rectangle 66"/>
          <p:cNvSpPr/>
          <p:nvPr/>
        </p:nvSpPr>
        <p:spPr>
          <a:xfrm>
            <a:off x="4977080" y="5390772"/>
            <a:ext cx="758953" cy="219457"/>
          </a:xfrm>
          <a:prstGeom prst="rect">
            <a:avLst/>
          </a:prstGeom>
          <a:solidFill>
            <a:srgbClr val="FFFFFF"/>
          </a:solidFill>
          <a:ln>
            <a:solidFill>
              <a:srgbClr val="B7C4D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27" name="TextBox 67"/>
          <p:cNvSpPr txBox="1"/>
          <p:nvPr/>
        </p:nvSpPr>
        <p:spPr>
          <a:xfrm>
            <a:off x="4998924" y="5413632"/>
            <a:ext cx="71526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600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Medium</a:t>
            </a:r>
          </a:p>
        </p:txBody>
      </p:sp>
      <p:sp>
        <p:nvSpPr>
          <p:cNvPr id="428" name="Rectangle 68"/>
          <p:cNvSpPr/>
          <p:nvPr/>
        </p:nvSpPr>
        <p:spPr>
          <a:xfrm>
            <a:off x="5736032" y="5390772"/>
            <a:ext cx="758953" cy="219457"/>
          </a:xfrm>
          <a:prstGeom prst="rect">
            <a:avLst/>
          </a:prstGeom>
          <a:solidFill>
            <a:srgbClr val="FFFFFF"/>
          </a:solidFill>
          <a:ln>
            <a:solidFill>
              <a:srgbClr val="B7C4D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29" name="TextBox 69"/>
          <p:cNvSpPr txBox="1"/>
          <p:nvPr/>
        </p:nvSpPr>
        <p:spPr>
          <a:xfrm>
            <a:off x="5757876" y="5413632"/>
            <a:ext cx="71526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600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Very low</a:t>
            </a:r>
          </a:p>
        </p:txBody>
      </p:sp>
      <p:sp>
        <p:nvSpPr>
          <p:cNvPr id="430" name="Rectangle 70"/>
          <p:cNvSpPr/>
          <p:nvPr/>
        </p:nvSpPr>
        <p:spPr>
          <a:xfrm>
            <a:off x="6494984" y="5390772"/>
            <a:ext cx="1060705" cy="219457"/>
          </a:xfrm>
          <a:prstGeom prst="rect">
            <a:avLst/>
          </a:prstGeom>
          <a:solidFill>
            <a:srgbClr val="FFFFFF"/>
          </a:solidFill>
          <a:ln>
            <a:solidFill>
              <a:srgbClr val="B7C4D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31" name="TextBox 71"/>
          <p:cNvSpPr txBox="1"/>
          <p:nvPr/>
        </p:nvSpPr>
        <p:spPr>
          <a:xfrm>
            <a:off x="6516829" y="5413632"/>
            <a:ext cx="101701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600">
                <a:solidFill>
                  <a:srgbClr val="121212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432" name="Rectangle 72"/>
          <p:cNvSpPr/>
          <p:nvPr/>
        </p:nvSpPr>
        <p:spPr>
          <a:xfrm>
            <a:off x="7555689" y="5390772"/>
            <a:ext cx="1078993" cy="219457"/>
          </a:xfrm>
          <a:prstGeom prst="rect">
            <a:avLst/>
          </a:prstGeom>
          <a:solidFill>
            <a:srgbClr val="FFFFFF"/>
          </a:solidFill>
          <a:ln>
            <a:solidFill>
              <a:srgbClr val="B7C4D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33" name="TextBox 73"/>
          <p:cNvSpPr txBox="1"/>
          <p:nvPr/>
        </p:nvSpPr>
        <p:spPr>
          <a:xfrm>
            <a:off x="7577532" y="5413632"/>
            <a:ext cx="103530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600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No prediction</a:t>
            </a:r>
          </a:p>
        </p:txBody>
      </p:sp>
      <p:sp>
        <p:nvSpPr>
          <p:cNvPr id="434" name="Rectangle 74"/>
          <p:cNvSpPr/>
          <p:nvPr/>
        </p:nvSpPr>
        <p:spPr>
          <a:xfrm>
            <a:off x="3806648" y="5610228"/>
            <a:ext cx="1170433" cy="219457"/>
          </a:xfrm>
          <a:prstGeom prst="rect">
            <a:avLst/>
          </a:prstGeom>
          <a:solidFill>
            <a:srgbClr val="F7F9FB"/>
          </a:solidFill>
          <a:ln>
            <a:solidFill>
              <a:srgbClr val="B7C4D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35" name="TextBox 75"/>
          <p:cNvSpPr txBox="1"/>
          <p:nvPr/>
        </p:nvSpPr>
        <p:spPr>
          <a:xfrm>
            <a:off x="3828491" y="5633088"/>
            <a:ext cx="11267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6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CV + Kalman</a:t>
            </a:r>
          </a:p>
        </p:txBody>
      </p:sp>
      <p:sp>
        <p:nvSpPr>
          <p:cNvPr id="436" name="Rectangle 76"/>
          <p:cNvSpPr/>
          <p:nvPr/>
        </p:nvSpPr>
        <p:spPr>
          <a:xfrm>
            <a:off x="4977080" y="5610228"/>
            <a:ext cx="758953" cy="219457"/>
          </a:xfrm>
          <a:prstGeom prst="rect">
            <a:avLst/>
          </a:prstGeom>
          <a:solidFill>
            <a:srgbClr val="F7F9FB"/>
          </a:solidFill>
          <a:ln>
            <a:solidFill>
              <a:srgbClr val="B7C4D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37" name="TextBox 77"/>
          <p:cNvSpPr txBox="1"/>
          <p:nvPr/>
        </p:nvSpPr>
        <p:spPr>
          <a:xfrm>
            <a:off x="4998924" y="5633088"/>
            <a:ext cx="71526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600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High</a:t>
            </a:r>
          </a:p>
        </p:txBody>
      </p:sp>
      <p:sp>
        <p:nvSpPr>
          <p:cNvPr id="438" name="Rectangle 78"/>
          <p:cNvSpPr/>
          <p:nvPr/>
        </p:nvSpPr>
        <p:spPr>
          <a:xfrm>
            <a:off x="5736032" y="5610228"/>
            <a:ext cx="758953" cy="219457"/>
          </a:xfrm>
          <a:prstGeom prst="rect">
            <a:avLst/>
          </a:prstGeom>
          <a:solidFill>
            <a:srgbClr val="F7F9FB"/>
          </a:solidFill>
          <a:ln>
            <a:solidFill>
              <a:srgbClr val="B7C4D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39" name="TextBox 79"/>
          <p:cNvSpPr txBox="1"/>
          <p:nvPr/>
        </p:nvSpPr>
        <p:spPr>
          <a:xfrm>
            <a:off x="5757876" y="5633088"/>
            <a:ext cx="71526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600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Low</a:t>
            </a:r>
          </a:p>
        </p:txBody>
      </p:sp>
      <p:sp>
        <p:nvSpPr>
          <p:cNvPr id="440" name="Rectangle 80"/>
          <p:cNvSpPr/>
          <p:nvPr/>
        </p:nvSpPr>
        <p:spPr>
          <a:xfrm>
            <a:off x="6494984" y="5610228"/>
            <a:ext cx="1060705" cy="219457"/>
          </a:xfrm>
          <a:prstGeom prst="rect">
            <a:avLst/>
          </a:prstGeom>
          <a:solidFill>
            <a:srgbClr val="F7F9FB"/>
          </a:solidFill>
          <a:ln>
            <a:solidFill>
              <a:srgbClr val="B7C4D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41" name="TextBox 81"/>
          <p:cNvSpPr txBox="1"/>
          <p:nvPr/>
        </p:nvSpPr>
        <p:spPr>
          <a:xfrm>
            <a:off x="6516829" y="5633088"/>
            <a:ext cx="101701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600">
                <a:solidFill>
                  <a:srgbClr val="121212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442" name="Rectangle 82"/>
          <p:cNvSpPr/>
          <p:nvPr/>
        </p:nvSpPr>
        <p:spPr>
          <a:xfrm>
            <a:off x="7555689" y="5610228"/>
            <a:ext cx="1078993" cy="219457"/>
          </a:xfrm>
          <a:prstGeom prst="rect">
            <a:avLst/>
          </a:prstGeom>
          <a:solidFill>
            <a:srgbClr val="EDF6F0"/>
          </a:solidFill>
          <a:ln>
            <a:solidFill>
              <a:srgbClr val="B7C4D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43" name="TextBox 83"/>
          <p:cNvSpPr txBox="1"/>
          <p:nvPr/>
        </p:nvSpPr>
        <p:spPr>
          <a:xfrm>
            <a:off x="7577532" y="5633088"/>
            <a:ext cx="103530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6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★ Baseline</a:t>
            </a:r>
          </a:p>
        </p:txBody>
      </p:sp>
      <p:sp>
        <p:nvSpPr>
          <p:cNvPr id="444" name="Rectangle 84"/>
          <p:cNvSpPr/>
          <p:nvPr/>
        </p:nvSpPr>
        <p:spPr>
          <a:xfrm>
            <a:off x="3806648" y="5829684"/>
            <a:ext cx="1170433" cy="219457"/>
          </a:xfrm>
          <a:prstGeom prst="rect">
            <a:avLst/>
          </a:prstGeom>
          <a:solidFill>
            <a:srgbClr val="FFFFFF"/>
          </a:solidFill>
          <a:ln>
            <a:solidFill>
              <a:srgbClr val="B7C4D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45" name="TextBox 85"/>
          <p:cNvSpPr txBox="1"/>
          <p:nvPr/>
        </p:nvSpPr>
        <p:spPr>
          <a:xfrm>
            <a:off x="3828491" y="5852544"/>
            <a:ext cx="11267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6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GRU residual</a:t>
            </a:r>
          </a:p>
        </p:txBody>
      </p:sp>
      <p:sp>
        <p:nvSpPr>
          <p:cNvPr id="446" name="Rectangle 86"/>
          <p:cNvSpPr/>
          <p:nvPr/>
        </p:nvSpPr>
        <p:spPr>
          <a:xfrm>
            <a:off x="4977080" y="5829684"/>
            <a:ext cx="758953" cy="219457"/>
          </a:xfrm>
          <a:prstGeom prst="rect">
            <a:avLst/>
          </a:prstGeom>
          <a:solidFill>
            <a:srgbClr val="FFFFFF"/>
          </a:solidFill>
          <a:ln>
            <a:solidFill>
              <a:srgbClr val="B7C4D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47" name="TextBox 87"/>
          <p:cNvSpPr txBox="1"/>
          <p:nvPr/>
        </p:nvSpPr>
        <p:spPr>
          <a:xfrm>
            <a:off x="4998924" y="5852544"/>
            <a:ext cx="71526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600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High*</a:t>
            </a:r>
          </a:p>
        </p:txBody>
      </p:sp>
      <p:sp>
        <p:nvSpPr>
          <p:cNvPr id="448" name="Rectangle 88"/>
          <p:cNvSpPr/>
          <p:nvPr/>
        </p:nvSpPr>
        <p:spPr>
          <a:xfrm>
            <a:off x="5736032" y="5829684"/>
            <a:ext cx="758953" cy="219457"/>
          </a:xfrm>
          <a:prstGeom prst="rect">
            <a:avLst/>
          </a:prstGeom>
          <a:solidFill>
            <a:srgbClr val="FFFFFF"/>
          </a:solidFill>
          <a:ln>
            <a:solidFill>
              <a:srgbClr val="B7C4D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49" name="TextBox 89"/>
          <p:cNvSpPr txBox="1"/>
          <p:nvPr/>
        </p:nvSpPr>
        <p:spPr>
          <a:xfrm>
            <a:off x="5757876" y="5852544"/>
            <a:ext cx="71526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600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Medium</a:t>
            </a:r>
          </a:p>
        </p:txBody>
      </p:sp>
      <p:sp>
        <p:nvSpPr>
          <p:cNvPr id="450" name="Rectangle 90"/>
          <p:cNvSpPr/>
          <p:nvPr/>
        </p:nvSpPr>
        <p:spPr>
          <a:xfrm>
            <a:off x="6494984" y="5829684"/>
            <a:ext cx="1060705" cy="219457"/>
          </a:xfrm>
          <a:prstGeom prst="rect">
            <a:avLst/>
          </a:prstGeom>
          <a:solidFill>
            <a:srgbClr val="FFFFFF"/>
          </a:solidFill>
          <a:ln>
            <a:solidFill>
              <a:srgbClr val="B7C4D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51" name="TextBox 91"/>
          <p:cNvSpPr txBox="1"/>
          <p:nvPr/>
        </p:nvSpPr>
        <p:spPr>
          <a:xfrm>
            <a:off x="6516829" y="5852544"/>
            <a:ext cx="101701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 defTabSz="457200">
              <a:defRPr sz="600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  <a:r>
              <a:t>*</a:t>
            </a:r>
          </a:p>
        </p:txBody>
      </p:sp>
      <p:sp>
        <p:nvSpPr>
          <p:cNvPr id="452" name="Rectangle 92"/>
          <p:cNvSpPr/>
          <p:nvPr/>
        </p:nvSpPr>
        <p:spPr>
          <a:xfrm>
            <a:off x="7555689" y="5829684"/>
            <a:ext cx="1078993" cy="219457"/>
          </a:xfrm>
          <a:prstGeom prst="rect">
            <a:avLst/>
          </a:prstGeom>
          <a:solidFill>
            <a:srgbClr val="EDF6F0"/>
          </a:solidFill>
          <a:ln>
            <a:solidFill>
              <a:srgbClr val="B7C4D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53" name="TextBox 93"/>
          <p:cNvSpPr txBox="1"/>
          <p:nvPr/>
        </p:nvSpPr>
        <p:spPr>
          <a:xfrm>
            <a:off x="7577532" y="5852544"/>
            <a:ext cx="103530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6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★ Delay-aware</a:t>
            </a:r>
          </a:p>
        </p:txBody>
      </p:sp>
      <p:sp>
        <p:nvSpPr>
          <p:cNvPr id="454" name="Rectangle 94"/>
          <p:cNvSpPr/>
          <p:nvPr/>
        </p:nvSpPr>
        <p:spPr>
          <a:xfrm>
            <a:off x="3806648" y="6049140"/>
            <a:ext cx="1170433" cy="219457"/>
          </a:xfrm>
          <a:prstGeom prst="rect">
            <a:avLst/>
          </a:prstGeom>
          <a:solidFill>
            <a:srgbClr val="F7F9FB"/>
          </a:solidFill>
          <a:ln>
            <a:solidFill>
              <a:srgbClr val="B7C4D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55" name="TextBox 95"/>
          <p:cNvSpPr txBox="1"/>
          <p:nvPr/>
        </p:nvSpPr>
        <p:spPr>
          <a:xfrm>
            <a:off x="3828491" y="6072000"/>
            <a:ext cx="11267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6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End-to-end DL</a:t>
            </a:r>
          </a:p>
        </p:txBody>
      </p:sp>
      <p:sp>
        <p:nvSpPr>
          <p:cNvPr id="456" name="Rectangle 96"/>
          <p:cNvSpPr/>
          <p:nvPr/>
        </p:nvSpPr>
        <p:spPr>
          <a:xfrm>
            <a:off x="4977080" y="6049140"/>
            <a:ext cx="758953" cy="219457"/>
          </a:xfrm>
          <a:prstGeom prst="rect">
            <a:avLst/>
          </a:prstGeom>
          <a:solidFill>
            <a:srgbClr val="F7F9FB"/>
          </a:solidFill>
          <a:ln>
            <a:solidFill>
              <a:srgbClr val="B7C4D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57" name="TextBox 97"/>
          <p:cNvSpPr txBox="1"/>
          <p:nvPr/>
        </p:nvSpPr>
        <p:spPr>
          <a:xfrm>
            <a:off x="4998924" y="6072000"/>
            <a:ext cx="71526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600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Potential</a:t>
            </a:r>
          </a:p>
        </p:txBody>
      </p:sp>
      <p:sp>
        <p:nvSpPr>
          <p:cNvPr id="458" name="Rectangle 98"/>
          <p:cNvSpPr/>
          <p:nvPr/>
        </p:nvSpPr>
        <p:spPr>
          <a:xfrm>
            <a:off x="5736032" y="6049140"/>
            <a:ext cx="758953" cy="219457"/>
          </a:xfrm>
          <a:prstGeom prst="rect">
            <a:avLst/>
          </a:prstGeom>
          <a:solidFill>
            <a:srgbClr val="F7F9FB"/>
          </a:solidFill>
          <a:ln>
            <a:solidFill>
              <a:srgbClr val="B7C4D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59" name="TextBox 99"/>
          <p:cNvSpPr txBox="1"/>
          <p:nvPr/>
        </p:nvSpPr>
        <p:spPr>
          <a:xfrm>
            <a:off x="5757876" y="6072000"/>
            <a:ext cx="71526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600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High</a:t>
            </a:r>
          </a:p>
        </p:txBody>
      </p:sp>
      <p:sp>
        <p:nvSpPr>
          <p:cNvPr id="460" name="Rectangle 100"/>
          <p:cNvSpPr/>
          <p:nvPr/>
        </p:nvSpPr>
        <p:spPr>
          <a:xfrm>
            <a:off x="6494984" y="6049140"/>
            <a:ext cx="1060705" cy="219457"/>
          </a:xfrm>
          <a:prstGeom prst="rect">
            <a:avLst/>
          </a:prstGeom>
          <a:solidFill>
            <a:srgbClr val="F7F9FB"/>
          </a:solidFill>
          <a:ln>
            <a:solidFill>
              <a:srgbClr val="B7C4D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61" name="TextBox 101"/>
          <p:cNvSpPr txBox="1"/>
          <p:nvPr/>
        </p:nvSpPr>
        <p:spPr>
          <a:xfrm>
            <a:off x="6516829" y="6072000"/>
            <a:ext cx="101701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600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△</a:t>
            </a:r>
          </a:p>
        </p:txBody>
      </p:sp>
      <p:sp>
        <p:nvSpPr>
          <p:cNvPr id="462" name="Rectangle 102"/>
          <p:cNvSpPr/>
          <p:nvPr/>
        </p:nvSpPr>
        <p:spPr>
          <a:xfrm>
            <a:off x="7555689" y="6049140"/>
            <a:ext cx="1078993" cy="219457"/>
          </a:xfrm>
          <a:prstGeom prst="rect">
            <a:avLst/>
          </a:prstGeom>
          <a:solidFill>
            <a:srgbClr val="F7F9FB"/>
          </a:solidFill>
          <a:ln>
            <a:solidFill>
              <a:srgbClr val="B7C4D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63" name="TextBox 103"/>
          <p:cNvSpPr txBox="1"/>
          <p:nvPr/>
        </p:nvSpPr>
        <p:spPr>
          <a:xfrm>
            <a:off x="7577532" y="6072000"/>
            <a:ext cx="103530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600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△ Costly</a:t>
            </a:r>
          </a:p>
        </p:txBody>
      </p:sp>
      <p:sp>
        <p:nvSpPr>
          <p:cNvPr id="464" name="TextBox 104"/>
          <p:cNvSpPr txBox="1"/>
          <p:nvPr/>
        </p:nvSpPr>
        <p:spPr>
          <a:xfrm>
            <a:off x="3837636" y="6076572"/>
            <a:ext cx="4775201" cy="1270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457200">
              <a:defRPr sz="600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465" name="TextBox 105"/>
          <p:cNvSpPr txBox="1"/>
          <p:nvPr/>
        </p:nvSpPr>
        <p:spPr>
          <a:xfrm>
            <a:off x="9305163" y="1238011"/>
            <a:ext cx="2790953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2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PRIMARY SOURCES:</a:t>
            </a:r>
          </a:p>
        </p:txBody>
      </p:sp>
      <p:sp>
        <p:nvSpPr>
          <p:cNvPr id="466" name="TextBox 107"/>
          <p:cNvSpPr txBox="1"/>
          <p:nvPr/>
        </p:nvSpPr>
        <p:spPr>
          <a:xfrm>
            <a:off x="9281985" y="1547732"/>
            <a:ext cx="2761489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457200">
              <a:defRPr sz="900" i="1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ea typeface="Arial"/>
                <a:cs typeface="Arial"/>
                <a:sym typeface="Arial"/>
                <a:hlinkClick r:id="rId4"/>
              </a:defRPr>
            </a:lvl1pPr>
          </a:lstStyle>
          <a:p>
            <a:pPr>
              <a:defRPr>
                <a:solidFill>
                  <a:srgbClr val="347EBE"/>
                </a:solidFill>
                <a:uFillTx/>
              </a:defRPr>
            </a:pP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/>
              </a:rPr>
              <a:t>[1] ISRO / SIH 2026 — PS 26169</a:t>
            </a:r>
          </a:p>
        </p:txBody>
      </p:sp>
      <p:sp>
        <p:nvSpPr>
          <p:cNvPr id="467" name="TextBox 108"/>
          <p:cNvSpPr txBox="1"/>
          <p:nvPr/>
        </p:nvSpPr>
        <p:spPr>
          <a:xfrm>
            <a:off x="9281985" y="1796153"/>
            <a:ext cx="2761489" cy="341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457200">
              <a:defRPr sz="900" i="1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ea typeface="Arial"/>
                <a:cs typeface="Arial"/>
                <a:sym typeface="Arial"/>
                <a:hlinkClick r:id="rId5"/>
              </a:defRPr>
            </a:lvl1pPr>
          </a:lstStyle>
          <a:p>
            <a:pPr>
              <a:defRPr>
                <a:solidFill>
                  <a:srgbClr val="347EBE"/>
                </a:solidFill>
                <a:uFillTx/>
              </a:defRPr>
            </a:pP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5"/>
              </a:rPr>
              <a:t>[2] Kalman — A New Approach to Linear Filtering and Prediction Problems</a:t>
            </a:r>
          </a:p>
        </p:txBody>
      </p:sp>
      <p:sp>
        <p:nvSpPr>
          <p:cNvPr id="468" name="TextBox 109"/>
          <p:cNvSpPr txBox="1"/>
          <p:nvPr/>
        </p:nvSpPr>
        <p:spPr>
          <a:xfrm>
            <a:off x="9281985" y="2289929"/>
            <a:ext cx="2761489" cy="341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457200">
              <a:defRPr sz="900" i="1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ea typeface="Arial"/>
                <a:cs typeface="Arial"/>
                <a:sym typeface="Arial"/>
                <a:hlinkClick r:id="rId6"/>
              </a:defRPr>
            </a:lvl1pPr>
          </a:lstStyle>
          <a:p>
            <a:pPr>
              <a:defRPr>
                <a:solidFill>
                  <a:srgbClr val="347EBE"/>
                </a:solidFill>
                <a:uFillTx/>
              </a:defRPr>
            </a:pP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6"/>
              </a:rPr>
              <a:t>[3] Cho et al. — Learning Phrase Representations using RNN Encoder–Decoder</a:t>
            </a:r>
          </a:p>
        </p:txBody>
      </p:sp>
      <p:sp>
        <p:nvSpPr>
          <p:cNvPr id="469" name="TextBox 110"/>
          <p:cNvSpPr txBox="1"/>
          <p:nvPr/>
        </p:nvSpPr>
        <p:spPr>
          <a:xfrm>
            <a:off x="9281985" y="2701409"/>
            <a:ext cx="2761489" cy="341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457200">
              <a:defRPr sz="900" i="1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ea typeface="Arial"/>
                <a:cs typeface="Arial"/>
                <a:sym typeface="Arial"/>
                <a:hlinkClick r:id="rId7"/>
              </a:defRPr>
            </a:lvl1pPr>
          </a:lstStyle>
          <a:p>
            <a:pPr>
              <a:defRPr>
                <a:solidFill>
                  <a:srgbClr val="347EBE"/>
                </a:solidFill>
                <a:uFillTx/>
              </a:defRPr>
            </a:pP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7"/>
              </a:rPr>
              <a:t>[4] OpenCV — Open Source Computer Vision Library</a:t>
            </a:r>
          </a:p>
        </p:txBody>
      </p:sp>
      <p:sp>
        <p:nvSpPr>
          <p:cNvPr id="470" name="TextBox 111"/>
          <p:cNvSpPr txBox="1"/>
          <p:nvPr/>
        </p:nvSpPr>
        <p:spPr>
          <a:xfrm>
            <a:off x="9281985" y="3112889"/>
            <a:ext cx="2761489" cy="468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457200">
              <a:defRPr sz="900" i="1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ea typeface="Arial"/>
                <a:cs typeface="Arial"/>
                <a:sym typeface="Arial"/>
                <a:hlinkClick r:id="rId8"/>
              </a:defRPr>
            </a:lvl1pPr>
          </a:lstStyle>
          <a:p>
            <a:pPr>
              <a:defRPr>
                <a:solidFill>
                  <a:srgbClr val="347EBE"/>
                </a:solidFill>
                <a:uFillTx/>
              </a:defRPr>
            </a:pP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8"/>
              </a:rPr>
              <a:t>[5] Li et al. — Computer vision-based laser communication system for robust optical beam tracking and alignment, Scientific Reports (2025)</a:t>
            </a:r>
          </a:p>
        </p:txBody>
      </p:sp>
      <p:sp>
        <p:nvSpPr>
          <p:cNvPr id="471" name="TextBox 112"/>
          <p:cNvSpPr txBox="1"/>
          <p:nvPr/>
        </p:nvSpPr>
        <p:spPr>
          <a:xfrm>
            <a:off x="9281985" y="3606665"/>
            <a:ext cx="2761489" cy="341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457200">
              <a:defRPr sz="900" i="1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ea typeface="Arial"/>
                <a:cs typeface="Arial"/>
                <a:sym typeface="Arial"/>
                <a:hlinkClick r:id="rId9"/>
              </a:defRPr>
            </a:lvl1pPr>
          </a:lstStyle>
          <a:p>
            <a:pPr>
              <a:defRPr>
                <a:solidFill>
                  <a:srgbClr val="347EBE"/>
                </a:solidFill>
                <a:uFillTx/>
              </a:defRPr>
            </a:pP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9"/>
              </a:rPr>
              <a:t>[6] Gerard et al. — Modeling Pointing, Acquisition, and Tracking Delays in FSO Satellite Networks</a:t>
            </a:r>
          </a:p>
        </p:txBody>
      </p:sp>
      <p:sp>
        <p:nvSpPr>
          <p:cNvPr id="472" name="TextBox 113"/>
          <p:cNvSpPr txBox="1"/>
          <p:nvPr/>
        </p:nvSpPr>
        <p:spPr>
          <a:xfrm>
            <a:off x="9281985" y="4100441"/>
            <a:ext cx="2761489" cy="341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457200">
              <a:defRPr sz="900" i="1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ea typeface="Arial"/>
                <a:cs typeface="Arial"/>
                <a:sym typeface="Arial"/>
                <a:hlinkClick r:id="rId10"/>
              </a:defRPr>
            </a:lvl1pPr>
          </a:lstStyle>
          <a:p>
            <a:pPr>
              <a:defRPr>
                <a:solidFill>
                  <a:srgbClr val="347EBE"/>
                </a:solidFill>
                <a:uFillTx/>
              </a:defRPr>
            </a:pP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10"/>
              </a:rPr>
              <a:t>[7] Optica — ACPC 2020: Optical Tracking / Alignment Research</a:t>
            </a:r>
          </a:p>
        </p:txBody>
      </p:sp>
      <p:sp>
        <p:nvSpPr>
          <p:cNvPr id="473" name="TextBox 114"/>
          <p:cNvSpPr txBox="1"/>
          <p:nvPr/>
        </p:nvSpPr>
        <p:spPr>
          <a:xfrm>
            <a:off x="9281985" y="4511921"/>
            <a:ext cx="2761489" cy="341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457200">
              <a:defRPr sz="900" i="1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ea typeface="Arial"/>
                <a:cs typeface="Arial"/>
                <a:sym typeface="Arial"/>
                <a:hlinkClick r:id="rId11"/>
              </a:defRPr>
            </a:lvl1pPr>
          </a:lstStyle>
          <a:p>
            <a:pPr>
              <a:defRPr>
                <a:solidFill>
                  <a:srgbClr val="347EBE"/>
                </a:solidFill>
                <a:uFillTx/>
              </a:defRPr>
            </a:pP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11"/>
              </a:rPr>
              <a:t>[8] PubMed — Optical Tracking / Pointing Research Record</a:t>
            </a:r>
          </a:p>
        </p:txBody>
      </p:sp>
      <p:sp>
        <p:nvSpPr>
          <p:cNvPr id="474" name="TextBox 115"/>
          <p:cNvSpPr txBox="1"/>
          <p:nvPr/>
        </p:nvSpPr>
        <p:spPr>
          <a:xfrm>
            <a:off x="9267253" y="4959460"/>
            <a:ext cx="279095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2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RESEARCH THEMES:</a:t>
            </a:r>
          </a:p>
        </p:txBody>
      </p:sp>
      <p:sp>
        <p:nvSpPr>
          <p:cNvPr id="475" name="Rounded Rectangle 116"/>
          <p:cNvSpPr/>
          <p:nvPr/>
        </p:nvSpPr>
        <p:spPr>
          <a:xfrm>
            <a:off x="9236265" y="5197204"/>
            <a:ext cx="2852929" cy="512065"/>
          </a:xfrm>
          <a:prstGeom prst="roundRect">
            <a:avLst>
              <a:gd name="adj" fmla="val 16667"/>
            </a:avLst>
          </a:prstGeom>
          <a:solidFill>
            <a:srgbClr val="F7F9FB"/>
          </a:solidFill>
          <a:ln w="8890">
            <a:solidFill>
              <a:srgbClr val="D3DBE3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76" name="TextBox 117"/>
          <p:cNvSpPr txBox="1"/>
          <p:nvPr/>
        </p:nvSpPr>
        <p:spPr>
          <a:xfrm>
            <a:off x="9322117" y="5317183"/>
            <a:ext cx="2681225" cy="250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457200">
              <a:defRPr sz="900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Mobile FSOC • PAT • optical tracking • motion prediction • closed-loop control • robustness</a:t>
            </a:r>
          </a:p>
        </p:txBody>
      </p:sp>
      <p:sp>
        <p:nvSpPr>
          <p:cNvPr id="477" name="* retained only when testing proves benefit after latency / compute cost"/>
          <p:cNvSpPr txBox="1"/>
          <p:nvPr/>
        </p:nvSpPr>
        <p:spPr>
          <a:xfrm>
            <a:off x="6398949" y="6294709"/>
            <a:ext cx="65" cy="92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 defTabSz="457200">
              <a:defRPr sz="600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 dirty="0"/>
          </a:p>
        </p:txBody>
      </p:sp>
      <p:sp>
        <p:nvSpPr>
          <p:cNvPr id="478" name="Rounded Rectangle 116"/>
          <p:cNvSpPr/>
          <p:nvPr/>
        </p:nvSpPr>
        <p:spPr>
          <a:xfrm>
            <a:off x="9245361" y="5790218"/>
            <a:ext cx="2852929" cy="512065"/>
          </a:xfrm>
          <a:prstGeom prst="roundRect">
            <a:avLst>
              <a:gd name="adj" fmla="val 16667"/>
            </a:avLst>
          </a:prstGeom>
          <a:solidFill>
            <a:srgbClr val="F7F9FB"/>
          </a:solidFill>
          <a:ln w="8890">
            <a:solidFill>
              <a:srgbClr val="D3DBE3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79" name="TextBox 118"/>
          <p:cNvSpPr txBox="1"/>
          <p:nvPr/>
        </p:nvSpPr>
        <p:spPr>
          <a:xfrm>
            <a:off x="9322117" y="5824634"/>
            <a:ext cx="2790953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1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EVIDENCE TO BE MEASURED:</a:t>
            </a:r>
          </a:p>
        </p:txBody>
      </p:sp>
      <p:sp>
        <p:nvSpPr>
          <p:cNvPr id="480" name="TextBox 119"/>
          <p:cNvSpPr txBox="1"/>
          <p:nvPr/>
        </p:nvSpPr>
        <p:spPr>
          <a:xfrm>
            <a:off x="9281289" y="6009643"/>
            <a:ext cx="2790953" cy="250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900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Accuracy • acquisition • loss • reacquisition • FPS • latency • robustness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1808</Words>
  <Application>Microsoft Office PowerPoint</Application>
  <PresentationFormat>Widescreen</PresentationFormat>
  <Paragraphs>269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Helvetica</vt:lpstr>
      <vt:lpstr>Helvetica Neue</vt:lpstr>
      <vt:lpstr>Times Roman</vt:lpstr>
      <vt:lpstr>TradeGothic</vt:lpstr>
      <vt:lpstr>Office Theme</vt:lpstr>
      <vt:lpstr>SMART INDIA HACKATHON 2026</vt:lpstr>
      <vt:lpstr> What do we Actually propose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Rohan reddy V</cp:lastModifiedBy>
  <cp:revision>2</cp:revision>
  <dcterms:modified xsi:type="dcterms:W3CDTF">2026-09-14T12:46:29Z</dcterms:modified>
</cp:coreProperties>
</file>