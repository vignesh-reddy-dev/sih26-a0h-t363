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Official SIH 2026 Master Catalogue, PS SIH26166 (user-supplied PDF).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4" name="Shape 1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Official SIH 2026 Master Catalogue, PS SIH26166 (user-supplied PDF).</a:t>
            </a:r>
          </a:p>
          <a:p>
            <a:r>
              <a:t>Proposed system architecture; no performance results are claimed.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3" name="Shape 20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Lowe (2004), Distinctive Image Features from Scale-Invariant Keypoints, IJCV.</a:t>
            </a:r>
          </a:p>
          <a:p>
            <a:r>
              <a:t>Xue et al. (2022), LoFTR: Detector-Free Local Feature Matching with Transformers, CVPR.</a:t>
            </a:r>
          </a:p>
          <a:p>
            <a:r>
              <a:t>Barath et al. (2020), MAGSAC++, CVPR.</a:t>
            </a:r>
          </a:p>
          <a:p>
            <a:r>
              <a:t>Kovesi (1999), Image Features From Phase Congruency, Videre.</a:t>
            </a:r>
          </a:p>
          <a:p>
            <a:r>
              <a:t>Proposed pipeline; matcher choice is evaluated experimentally rather than assumed.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2" name="Shape 2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Proposed risk controls derived from the SIH26166 requirement for cross-sensor, sun-angle and scale-invariant correspondence.</a:t>
            </a:r>
          </a:p>
          <a:p>
            <a:r>
              <a:t>Barath et al. (2020), MAGSAC++, CVPR.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9" name="Shape 3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Proposed benefits only; no numeric impact or performance claim is made.</a:t>
            </a:r>
          </a:p>
          <a:p>
            <a:r>
              <a:t>Official SIH 2026 Master Catalogue, PS SIH26166 (user-supplied PDF).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5" name="Shape 3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[Sources]</a:t>
            </a:r>
          </a:p>
          <a:p>
            <a:r>
              <a:t>Official SIH 2026 Master Catalogue (user-supplied PDF), PS SIH26166.</a:t>
            </a:r>
          </a:p>
          <a:p>
            <a:r>
              <a:t>Lowe (2004), IJCV; Kovesi (1999), Videre; Xue et al. (2022), CVPR; Barath et al. (2020), CVPR.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defRPr>
                <a:solidFill>
                  <a:srgbClr val="888888"/>
                </a:solidFill>
              </a:defRPr>
            </a:lvl1pPr>
            <a:lvl2pPr marL="0" indent="457200" algn="ctr">
              <a:defRPr>
                <a:solidFill>
                  <a:srgbClr val="888888"/>
                </a:solidFill>
              </a:defRPr>
            </a:lvl2pPr>
            <a:lvl3pPr marL="0" indent="914400" algn="ctr">
              <a:defRPr>
                <a:solidFill>
                  <a:srgbClr val="888888"/>
                </a:solidFill>
              </a:defRPr>
            </a:lvl3pPr>
            <a:lvl4pPr marL="0" indent="1371600" algn="ctr">
              <a:defRPr>
                <a:solidFill>
                  <a:srgbClr val="888888"/>
                </a:solidFill>
              </a:defRPr>
            </a:lvl4pPr>
            <a:lvl5pPr marL="0" indent="1828800" algn="ctr"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>
              <a:spcBef>
                <a:spcPts val="600"/>
              </a:spcBef>
              <a:defRPr sz="2800"/>
            </a:lvl2pPr>
            <a:lvl3pPr>
              <a:spcBef>
                <a:spcPts val="600"/>
              </a:spcBef>
              <a:defRPr sz="2800"/>
            </a:lvl3pPr>
            <a:lvl4pPr>
              <a:spcBef>
                <a:spcPts val="600"/>
              </a:spcBef>
              <a:defRPr sz="2800"/>
            </a:lvl4pPr>
            <a:lvl5pPr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defRPr sz="2400" b="1"/>
            </a:lvl1pPr>
            <a:lvl2pPr marL="0" indent="457200">
              <a:spcBef>
                <a:spcPts val="500"/>
              </a:spcBef>
              <a:defRPr sz="2400" b="1"/>
            </a:lvl2pPr>
            <a:lvl3pPr marL="0" indent="914400">
              <a:spcBef>
                <a:spcPts val="500"/>
              </a:spcBef>
              <a:defRPr sz="2400" b="1"/>
            </a:lvl3pPr>
            <a:lvl4pPr marL="0" indent="1371600">
              <a:spcBef>
                <a:spcPts val="500"/>
              </a:spcBef>
              <a:defRPr sz="2400" b="1"/>
            </a:lvl4pPr>
            <a:lvl5pPr marL="0" indent="1828800">
              <a:spcBef>
                <a:spcPts val="500"/>
              </a:spcBef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defRPr sz="1400"/>
            </a:lvl1pPr>
            <a:lvl2pPr marL="0" indent="457200">
              <a:spcBef>
                <a:spcPts val="300"/>
              </a:spcBef>
              <a:defRPr sz="1400"/>
            </a:lvl2pPr>
            <a:lvl3pPr marL="0" indent="914400">
              <a:spcBef>
                <a:spcPts val="300"/>
              </a:spcBef>
              <a:defRPr sz="1400"/>
            </a:lvl3pPr>
            <a:lvl4pPr marL="0" indent="1371600">
              <a:spcBef>
                <a:spcPts val="300"/>
              </a:spcBef>
              <a:defRPr sz="1400"/>
            </a:lvl4pPr>
            <a:lvl5pPr marL="0" indent="1828800">
              <a:spcBef>
                <a:spcPts val="300"/>
              </a:spcBef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342900" marR="0" indent="1143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342900" marR="0" indent="5715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342900" marR="0" indent="10287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342900" marR="0" indent="1485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isprs-archives.copernicus.org/articles/XLVIII-2-2024/89/2024/isprs-archives-XLVIII-2-2024-89-2024.html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12" Type="http://schemas.openxmlformats.org/officeDocument/2006/relationships/hyperlink" Target="https://astrogeology.usgs.gov/docs/concepts/missions/lro/lroc-nac-data/?utm_source=chatgpt.com" TargetMode="External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astrogeology.usgs.gov/docs/concepts/missions/chandrayaan2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hyperlink" Target="https://openaccess.thecvf.com/content/CVPR2021/html/Sun_LoFTR_Detector-Free_Local_Feature_Matching_With_Transformers_CVPR_2021_paper.html?utm_source=chatgpt.com" TargetMode="External"/><Relationship Id="rId5" Type="http://schemas.openxmlformats.org/officeDocument/2006/relationships/image" Target="../media/image28.png"/><Relationship Id="rId15" Type="http://schemas.openxmlformats.org/officeDocument/2006/relationships/hyperlink" Target="https://pds.nasa.gov/ds-view/pds/viewCollection.jsp?identifier=urn:nasa:pds:lro-l-lroc-3-cdr:lrolrc_1066a_data&amp;utm_source=chatgpt.com" TargetMode="External"/><Relationship Id="rId10" Type="http://schemas.openxmlformats.org/officeDocument/2006/relationships/hyperlink" Target="https://pubmed.ncbi.nlm.nih.gov/31869789/" TargetMode="External"/><Relationship Id="rId4" Type="http://schemas.openxmlformats.org/officeDocument/2006/relationships/image" Target="../media/image27.png"/><Relationship Id="rId9" Type="http://schemas.openxmlformats.org/officeDocument/2006/relationships/hyperlink" Target="https://www.issdc.gov.in/docs/ch2/hand_book_-_payloads_data_and_science.pdf?utm_source=chatgpt.com" TargetMode="External"/><Relationship Id="rId14" Type="http://schemas.openxmlformats.org/officeDocument/2006/relationships/hyperlink" Target="https://www.researchgate.net/publication/395338767_Comparative_Evaluation_of_Traditional_and_Deep_Learning_Feature_Matching_Algorithms_using_Chandrayaan-2_Lunar_Data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396469" y="0"/>
            <a:ext cx="9144001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Freeform: Shape 26"/>
          <p:cNvSpPr/>
          <p:nvPr/>
        </p:nvSpPr>
        <p:spPr>
          <a:xfrm>
            <a:off x="7297658" y="1099027"/>
            <a:ext cx="4638605" cy="5154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3"/>
          <a:srcRect r="59916"/>
          <a:stretch>
            <a:fillRect/>
          </a:stretch>
        </p:blipFill>
        <p:spPr>
          <a:xfrm>
            <a:off x="8559937" y="1963400"/>
            <a:ext cx="3203510" cy="3426238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itle 7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r>
              <a:t>SMART INDIA HACKATHON 2026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294503" y="1214591"/>
            <a:ext cx="6908613" cy="492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100"/>
            </a:pPr>
            <a:r>
              <a:rPr b="1" u="sng"/>
              <a:t>Problem Statement ID</a:t>
            </a:r>
            <a:r>
              <a:t> - SIH26166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2100" b="1">
                <a:latin typeface="Arial"/>
                <a:ea typeface="Arial"/>
                <a:cs typeface="Arial"/>
                <a:sym typeface="Arial"/>
              </a:defRPr>
            </a:pPr>
            <a:r>
              <a:rPr u="sng"/>
              <a:t>Problem Statement Title</a:t>
            </a:r>
            <a:r>
              <a:t> - Multi-modal, Sun angle and scale invariant image correspondence using Chandrayaan-2 optical images (OHRC, TMC and IIRS)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2100" b="1">
                <a:latin typeface="Arial"/>
                <a:ea typeface="Arial"/>
                <a:cs typeface="Arial"/>
                <a:sym typeface="Arial"/>
              </a:defRPr>
            </a:pPr>
            <a:r>
              <a:rPr u="sng"/>
              <a:t>Theme</a:t>
            </a:r>
            <a:r>
              <a:t> - Space Technology | PS Category - Software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2100" b="1">
                <a:latin typeface="Arial"/>
                <a:ea typeface="Arial"/>
                <a:cs typeface="Arial"/>
                <a:sym typeface="Arial"/>
              </a:defRPr>
            </a:pPr>
            <a:r>
              <a:rPr u="sng"/>
              <a:t>Team ID</a:t>
            </a:r>
            <a:r>
              <a:t> - SIH26-A0H-T363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/>
              <a:buChar char="•"/>
              <a:defRPr sz="2100" b="1">
                <a:latin typeface="Arial"/>
                <a:ea typeface="Arial"/>
                <a:cs typeface="Arial"/>
                <a:sym typeface="Arial"/>
              </a:defRPr>
            </a:pPr>
            <a:r>
              <a:rPr u="sng"/>
              <a:t>Team Name (Registered on portal)</a:t>
            </a:r>
            <a:r>
              <a:t> - Team Zenith</a:t>
            </a:r>
          </a:p>
        </p:txBody>
      </p:sp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05" name="Rectangle 8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06" name="Title 1"/>
          <p:cNvSpPr txBox="1">
            <a:spLocks noGrp="1"/>
          </p:cNvSpPr>
          <p:nvPr>
            <p:ph type="title"/>
          </p:nvPr>
        </p:nvSpPr>
        <p:spPr>
          <a:xfrm>
            <a:off x="173831" y="-210840"/>
            <a:ext cx="10972801" cy="932449"/>
          </a:xfrm>
          <a:prstGeom prst="rect">
            <a:avLst/>
          </a:prstGeom>
        </p:spPr>
        <p:txBody>
          <a:bodyPr/>
          <a:lstStyle/>
          <a:p>
            <a:pPr defTabSz="288036">
              <a:defRPr sz="2772" b="1"/>
            </a:pPr>
            <a:endParaRPr/>
          </a:p>
          <a:p>
            <a:pPr defTabSz="288036">
              <a:defRPr sz="2772" b="1"/>
            </a:pPr>
            <a:r>
              <a:t>What do we Actually propose</a:t>
            </a:r>
          </a:p>
        </p:txBody>
      </p:sp>
      <p:sp>
        <p:nvSpPr>
          <p:cNvPr id="107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grpSp>
        <p:nvGrpSpPr>
          <p:cNvPr id="110" name="Oval 9"/>
          <p:cNvGrpSpPr/>
          <p:nvPr/>
        </p:nvGrpSpPr>
        <p:grpSpPr>
          <a:xfrm>
            <a:off x="329772" y="252245"/>
            <a:ext cx="1251859" cy="807335"/>
            <a:chOff x="0" y="0"/>
            <a:chExt cx="1251857" cy="807334"/>
          </a:xfrm>
        </p:grpSpPr>
        <p:sp>
          <p:nvSpPr>
            <p:cNvPr id="108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9" name="Team Zenith"/>
            <p:cNvSpPr txBox="1"/>
            <p:nvPr/>
          </p:nvSpPr>
          <p:spPr>
            <a:xfrm>
              <a:off x="241749" y="91073"/>
              <a:ext cx="768358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Team Zenith</a:t>
              </a:r>
            </a:p>
          </p:txBody>
        </p:sp>
      </p:grpSp>
      <p:pic>
        <p:nvPicPr>
          <p:cNvPr id="111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he problem and Why is this hard ?"/>
          <p:cNvSpPr txBox="1"/>
          <p:nvPr/>
        </p:nvSpPr>
        <p:spPr>
          <a:xfrm>
            <a:off x="302199" y="1300621"/>
            <a:ext cx="2534120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u="sng"/>
            </a:lvl1pPr>
          </a:lstStyle>
          <a:p>
            <a:r>
              <a:t>The problem and Why is this hard ?</a:t>
            </a:r>
          </a:p>
        </p:txBody>
      </p:sp>
      <p:pic>
        <p:nvPicPr>
          <p:cNvPr id="113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524" y="1967538"/>
            <a:ext cx="1294356" cy="8328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080" y="1985813"/>
            <a:ext cx="1294357" cy="796317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Line"/>
          <p:cNvSpPr/>
          <p:nvPr/>
        </p:nvSpPr>
        <p:spPr>
          <a:xfrm flipV="1">
            <a:off x="3136923" y="1328331"/>
            <a:ext cx="1" cy="498161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Line"/>
          <p:cNvSpPr/>
          <p:nvPr/>
        </p:nvSpPr>
        <p:spPr>
          <a:xfrm flipV="1">
            <a:off x="8142705" y="1328331"/>
            <a:ext cx="1" cy="498161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1)Sun angle — &quot;Same crater, different shadows&quot;"/>
          <p:cNvSpPr txBox="1"/>
          <p:nvPr/>
        </p:nvSpPr>
        <p:spPr>
          <a:xfrm>
            <a:off x="354857" y="2851071"/>
            <a:ext cx="275881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1)Sun angle</a:t>
            </a:r>
            <a:r>
              <a:t> — "Same crater, different shadows"</a:t>
            </a:r>
          </a:p>
        </p:txBody>
      </p:sp>
      <p:sp>
        <p:nvSpPr>
          <p:cNvPr id="118" name="Different appearance ≠ different terrain"/>
          <p:cNvSpPr txBox="1"/>
          <p:nvPr/>
        </p:nvSpPr>
        <p:spPr>
          <a:xfrm>
            <a:off x="838233" y="3157268"/>
            <a:ext cx="17920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spcBef>
                <a:spcPts val="1200"/>
              </a:spcBef>
              <a:defRPr sz="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Different appearance ≠ different terrain</a:t>
            </a:r>
          </a:p>
        </p:txBody>
      </p:sp>
      <p:sp>
        <p:nvSpPr>
          <p:cNvPr id="119" name="2)Scale gap — &quot;0.25 m to ~80 m per pixel&quot;"/>
          <p:cNvSpPr txBox="1"/>
          <p:nvPr/>
        </p:nvSpPr>
        <p:spPr>
          <a:xfrm>
            <a:off x="364135" y="3361866"/>
            <a:ext cx="24102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100"/>
            </a:pPr>
            <a:r>
              <a:t>2)</a:t>
            </a:r>
            <a:r>
              <a:rPr b="1"/>
              <a:t>Scale gap</a:t>
            </a:r>
            <a:r>
              <a:t> — "0.25 m to ~80 m per pixel"</a:t>
            </a:r>
          </a:p>
        </p:txBody>
      </p:sp>
      <p:sp>
        <p:nvSpPr>
          <p:cNvPr id="120" name="🔍 SCALE VARIATION ; OHRC → TMC-2 → IIRS…"/>
          <p:cNvSpPr txBox="1"/>
          <p:nvPr/>
        </p:nvSpPr>
        <p:spPr>
          <a:xfrm>
            <a:off x="283865" y="4324078"/>
            <a:ext cx="2900797" cy="33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9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🔍 </a:t>
            </a:r>
            <a:r>
              <a:rPr b="0"/>
              <a:t>SCALE VARIATION ; OHRC → TMC-2 → IIRS</a:t>
            </a:r>
          </a:p>
          <a:p>
            <a:pPr defTabSz="457200">
              <a:defRPr sz="9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</a:t>
            </a:r>
            <a:r>
              <a:rPr b="0"/>
              <a:t>Very different spatial resolutions using differnt cameras </a:t>
            </a:r>
          </a:p>
        </p:txBody>
      </p:sp>
      <p:pic>
        <p:nvPicPr>
          <p:cNvPr id="121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3" y="4783085"/>
            <a:ext cx="505806" cy="503239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3)Sensor type — &quot;Panchromatic vs hyperspectral&quot;"/>
          <p:cNvSpPr txBox="1"/>
          <p:nvPr/>
        </p:nvSpPr>
        <p:spPr>
          <a:xfrm>
            <a:off x="646286" y="4849723"/>
            <a:ext cx="2354313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/>
            </a:pPr>
            <a:r>
              <a:t>3)</a:t>
            </a:r>
            <a:r>
              <a:rPr b="1"/>
              <a:t>Sensor type</a:t>
            </a:r>
            <a:r>
              <a:t> — "Panchromatic vs hyperspectral"</a:t>
            </a:r>
          </a:p>
        </p:txBody>
      </p:sp>
      <p:sp>
        <p:nvSpPr>
          <p:cNvPr id="123" name="🛰️ SENSOR VARIATION Different instruments → different image characteristics"/>
          <p:cNvSpPr txBox="1"/>
          <p:nvPr/>
        </p:nvSpPr>
        <p:spPr>
          <a:xfrm>
            <a:off x="80283" y="5350718"/>
            <a:ext cx="299595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spcBef>
                <a:spcPts val="1200"/>
              </a:spcBef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🛰️ </a:t>
            </a:r>
            <a:r>
              <a:t>SENSOR VARIATION</a:t>
            </a:r>
            <a:br/>
            <a:r>
              <a:t>Different instruments → different image characteristics</a:t>
            </a:r>
          </a:p>
        </p:txBody>
      </p:sp>
      <p:sp>
        <p:nvSpPr>
          <p:cNvPr id="124" name="Result: conventional correspondence can become unreliable, sparse or spatially clustered."/>
          <p:cNvSpPr txBox="1"/>
          <p:nvPr/>
        </p:nvSpPr>
        <p:spPr>
          <a:xfrm>
            <a:off x="118768" y="5776540"/>
            <a:ext cx="290079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2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Result: conventional correspondence can become unreliable, sparse or spatially clustered.</a:t>
            </a:r>
          </a:p>
        </p:txBody>
      </p:sp>
      <p:pic>
        <p:nvPicPr>
          <p:cNvPr id="125" name="pasted-movie.png" descr="pasted-mov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648" y="3564801"/>
            <a:ext cx="818108" cy="690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asted-movie.png" descr="pasted-mov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3568" y="3594949"/>
            <a:ext cx="1121843" cy="6303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asted-movie.png" descr="pasted-movi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0446" y="5038082"/>
            <a:ext cx="539271" cy="574396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OUR SOLUTION"/>
          <p:cNvSpPr txBox="1"/>
          <p:nvPr/>
        </p:nvSpPr>
        <p:spPr>
          <a:xfrm>
            <a:off x="4823376" y="850504"/>
            <a:ext cx="1479179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u="sng"/>
            </a:lvl1pPr>
          </a:lstStyle>
          <a:p>
            <a:r>
              <a:t>OUR SOLUTION</a:t>
            </a:r>
          </a:p>
        </p:txBody>
      </p:sp>
      <p:pic>
        <p:nvPicPr>
          <p:cNvPr id="129" name="pasted-movie.png" descr="pasted-movi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8437" y="1169337"/>
            <a:ext cx="759765" cy="7963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pasted-movie.png" descr="pasted-movi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3723" y="1151062"/>
            <a:ext cx="759765" cy="809542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Rounded Rectangle"/>
          <p:cNvSpPr/>
          <p:nvPr/>
        </p:nvSpPr>
        <p:spPr>
          <a:xfrm>
            <a:off x="4077689" y="2109473"/>
            <a:ext cx="2970553" cy="548996"/>
          </a:xfrm>
          <a:prstGeom prst="roundRect">
            <a:avLst>
              <a:gd name="adj" fmla="val 2948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1" name="Connection Line"/>
          <p:cNvSpPr/>
          <p:nvPr/>
        </p:nvSpPr>
        <p:spPr>
          <a:xfrm>
            <a:off x="4228201" y="1403610"/>
            <a:ext cx="1233929" cy="6931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005" extrusionOk="0">
                <a:moveTo>
                  <a:pt x="0" y="1021"/>
                </a:moveTo>
                <a:cubicBezTo>
                  <a:pt x="10122" y="-2595"/>
                  <a:pt x="17322" y="3400"/>
                  <a:pt x="21600" y="19005"/>
                </a:cubicBezTo>
              </a:path>
            </a:pathLst>
          </a:cu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2" name="Connection Line"/>
          <p:cNvSpPr/>
          <p:nvPr/>
        </p:nvSpPr>
        <p:spPr>
          <a:xfrm>
            <a:off x="5609633" y="1385911"/>
            <a:ext cx="1562839" cy="710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544" extrusionOk="0">
                <a:moveTo>
                  <a:pt x="0" y="17544"/>
                </a:moveTo>
                <a:cubicBezTo>
                  <a:pt x="2307" y="627"/>
                  <a:pt x="9507" y="-4056"/>
                  <a:pt x="21600" y="3496"/>
                </a:cubicBezTo>
              </a:path>
            </a:pathLst>
          </a:cu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4" name="Make both images comparable"/>
          <p:cNvSpPr txBox="1"/>
          <p:nvPr/>
        </p:nvSpPr>
        <p:spPr>
          <a:xfrm>
            <a:off x="4777196" y="2148600"/>
            <a:ext cx="168118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1000"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Make both images comparable</a:t>
            </a:r>
          </a:p>
        </p:txBody>
      </p:sp>
      <p:sp>
        <p:nvSpPr>
          <p:cNvPr id="135" name="Sensor + illumination + scale"/>
          <p:cNvSpPr txBox="1"/>
          <p:nvPr/>
        </p:nvSpPr>
        <p:spPr>
          <a:xfrm>
            <a:off x="4909092" y="2314121"/>
            <a:ext cx="141739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900"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Sensor + illumination + scale</a:t>
            </a:r>
          </a:p>
        </p:txBody>
      </p:sp>
      <p:sp>
        <p:nvSpPr>
          <p:cNvPr id="136" name="Removes differences that make the same terrain look unrelated."/>
          <p:cNvSpPr txBox="1"/>
          <p:nvPr/>
        </p:nvSpPr>
        <p:spPr>
          <a:xfrm>
            <a:off x="4103951" y="2413381"/>
            <a:ext cx="3112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9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Removes differences that make the same terrain look unrelated.</a:t>
            </a:r>
          </a:p>
        </p:txBody>
      </p:sp>
      <p:sp>
        <p:nvSpPr>
          <p:cNvPr id="137" name="Line"/>
          <p:cNvSpPr/>
          <p:nvPr/>
        </p:nvSpPr>
        <p:spPr>
          <a:xfrm flipV="1">
            <a:off x="5556848" y="2651897"/>
            <a:ext cx="1" cy="12700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Rounded Rectangle"/>
          <p:cNvSpPr/>
          <p:nvPr/>
        </p:nvSpPr>
        <p:spPr>
          <a:xfrm>
            <a:off x="4093436" y="2795766"/>
            <a:ext cx="2970553" cy="770917"/>
          </a:xfrm>
          <a:prstGeom prst="roundRect">
            <a:avLst>
              <a:gd name="adj" fmla="val 2260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9" name="ADAPT"/>
          <p:cNvSpPr txBox="1"/>
          <p:nvPr/>
        </p:nvSpPr>
        <p:spPr>
          <a:xfrm>
            <a:off x="3305275" y="2263147"/>
            <a:ext cx="664568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i="1" u="sng"/>
            </a:lvl1pPr>
          </a:lstStyle>
          <a:p>
            <a:r>
              <a:t>ADAPT</a:t>
            </a:r>
          </a:p>
        </p:txBody>
      </p:sp>
      <p:sp>
        <p:nvSpPr>
          <p:cNvPr id="140" name="Discover matching terrain points"/>
          <p:cNvSpPr txBox="1"/>
          <p:nvPr/>
        </p:nvSpPr>
        <p:spPr>
          <a:xfrm>
            <a:off x="4670967" y="2856482"/>
            <a:ext cx="197743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100"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Discover matching terrain points</a:t>
            </a:r>
          </a:p>
        </p:txBody>
      </p:sp>
      <p:sp>
        <p:nvSpPr>
          <p:cNvPr id="141" name="Structural + learned features"/>
          <p:cNvSpPr txBox="1"/>
          <p:nvPr/>
        </p:nvSpPr>
        <p:spPr>
          <a:xfrm>
            <a:off x="4760800" y="3063962"/>
            <a:ext cx="153515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1000" b="1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Structural + learned features</a:t>
            </a:r>
          </a:p>
        </p:txBody>
      </p:sp>
      <p:sp>
        <p:nvSpPr>
          <p:cNvPr id="142" name="Finds points that likely represent the same lunar feature."/>
          <p:cNvSpPr txBox="1"/>
          <p:nvPr/>
        </p:nvSpPr>
        <p:spPr>
          <a:xfrm>
            <a:off x="4300081" y="3251200"/>
            <a:ext cx="2774410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Finds points that likely represent the same lunar feature.</a:t>
            </a:r>
          </a:p>
        </p:txBody>
      </p:sp>
      <p:sp>
        <p:nvSpPr>
          <p:cNvPr id="143" name="FIND"/>
          <p:cNvSpPr txBox="1"/>
          <p:nvPr/>
        </p:nvSpPr>
        <p:spPr>
          <a:xfrm>
            <a:off x="3420023" y="3060401"/>
            <a:ext cx="47269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i="1" u="sng"/>
            </a:lvl1pPr>
          </a:lstStyle>
          <a:p>
            <a:r>
              <a:t>FIND</a:t>
            </a:r>
          </a:p>
        </p:txBody>
      </p:sp>
      <p:sp>
        <p:nvSpPr>
          <p:cNvPr id="144" name="Rounded Rectangle"/>
          <p:cNvSpPr/>
          <p:nvPr/>
        </p:nvSpPr>
        <p:spPr>
          <a:xfrm>
            <a:off x="4091238" y="3703980"/>
            <a:ext cx="2970553" cy="770918"/>
          </a:xfrm>
          <a:prstGeom prst="roundRect">
            <a:avLst>
              <a:gd name="adj" fmla="val 2260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5" name="Reject incorrect matches"/>
          <p:cNvSpPr txBox="1"/>
          <p:nvPr/>
        </p:nvSpPr>
        <p:spPr>
          <a:xfrm>
            <a:off x="4782495" y="3736585"/>
            <a:ext cx="14917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100"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Reject incorrect matches</a:t>
            </a:r>
          </a:p>
        </p:txBody>
      </p:sp>
      <p:sp>
        <p:nvSpPr>
          <p:cNvPr id="146" name="MAGSAC++ + geometry + DEM"/>
          <p:cNvSpPr txBox="1"/>
          <p:nvPr/>
        </p:nvSpPr>
        <p:spPr>
          <a:xfrm>
            <a:off x="4541393" y="3910106"/>
            <a:ext cx="207047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1200" b="1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MAGSAC++ + geometry + DEM</a:t>
            </a:r>
          </a:p>
        </p:txBody>
      </p:sp>
      <p:sp>
        <p:nvSpPr>
          <p:cNvPr id="147" name="Keeps only matches that agree with the scene's geometry."/>
          <p:cNvSpPr txBox="1"/>
          <p:nvPr/>
        </p:nvSpPr>
        <p:spPr>
          <a:xfrm>
            <a:off x="4300081" y="4067741"/>
            <a:ext cx="2557264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Keeps only matches that agree with the scene's geometry.</a:t>
            </a:r>
          </a:p>
        </p:txBody>
      </p:sp>
      <p:sp>
        <p:nvSpPr>
          <p:cNvPr id="148" name="VERIFY"/>
          <p:cNvSpPr txBox="1"/>
          <p:nvPr/>
        </p:nvSpPr>
        <p:spPr>
          <a:xfrm>
            <a:off x="3278822" y="4046334"/>
            <a:ext cx="672717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i="1" u="sng"/>
            </a:lvl1pPr>
          </a:lstStyle>
          <a:p>
            <a:r>
              <a:t>VERIFY</a:t>
            </a:r>
          </a:p>
        </p:txBody>
      </p:sp>
      <p:sp>
        <p:nvSpPr>
          <p:cNvPr id="149" name="Line"/>
          <p:cNvSpPr/>
          <p:nvPr/>
        </p:nvSpPr>
        <p:spPr>
          <a:xfrm flipV="1">
            <a:off x="5578712" y="3572000"/>
            <a:ext cx="1" cy="12700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0" name="Rounded Rectangle"/>
          <p:cNvSpPr/>
          <p:nvPr/>
        </p:nvSpPr>
        <p:spPr>
          <a:xfrm>
            <a:off x="4068401" y="4599208"/>
            <a:ext cx="2970553" cy="770917"/>
          </a:xfrm>
          <a:prstGeom prst="roundRect">
            <a:avLst>
              <a:gd name="adj" fmla="val 2260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1" name="Make trusted matches precise"/>
          <p:cNvSpPr txBox="1"/>
          <p:nvPr/>
        </p:nvSpPr>
        <p:spPr>
          <a:xfrm>
            <a:off x="4759658" y="4631813"/>
            <a:ext cx="19526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1200"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Make trusted matches precise</a:t>
            </a:r>
          </a:p>
        </p:txBody>
      </p:sp>
      <p:sp>
        <p:nvSpPr>
          <p:cNvPr id="152" name="Spatial balancing + sub-pixel refinement"/>
          <p:cNvSpPr txBox="1"/>
          <p:nvPr/>
        </p:nvSpPr>
        <p:spPr>
          <a:xfrm>
            <a:off x="4325927" y="4780717"/>
            <a:ext cx="257209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1200" b="1" i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Spatial balancing + sub-pixel refinement</a:t>
            </a:r>
          </a:p>
        </p:txBody>
      </p:sp>
      <p:sp>
        <p:nvSpPr>
          <p:cNvPr id="153" name="Spreads reliable points across the scene and improves their location beyond pixel-level accuracy."/>
          <p:cNvSpPr txBox="1"/>
          <p:nvPr/>
        </p:nvSpPr>
        <p:spPr>
          <a:xfrm>
            <a:off x="4277244" y="4962968"/>
            <a:ext cx="2557265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spcBef>
                <a:spcPts val="1200"/>
              </a:spcBef>
              <a:defRPr sz="9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Spreads reliable points across the scene and improves their location beyond pixel-level accuracy.</a:t>
            </a:r>
          </a:p>
        </p:txBody>
      </p:sp>
      <p:sp>
        <p:nvSpPr>
          <p:cNvPr id="154" name="REFINE"/>
          <p:cNvSpPr txBox="1"/>
          <p:nvPr/>
        </p:nvSpPr>
        <p:spPr>
          <a:xfrm>
            <a:off x="3255986" y="4941561"/>
            <a:ext cx="680306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i="1" u="sng"/>
            </a:lvl1pPr>
          </a:lstStyle>
          <a:p>
            <a:r>
              <a:t>REFINE</a:t>
            </a:r>
          </a:p>
        </p:txBody>
      </p:sp>
      <p:sp>
        <p:nvSpPr>
          <p:cNvPr id="155" name="Line"/>
          <p:cNvSpPr/>
          <p:nvPr/>
        </p:nvSpPr>
        <p:spPr>
          <a:xfrm flipV="1">
            <a:off x="5555876" y="4467227"/>
            <a:ext cx="1" cy="12700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6" name="ACCURATE LUNAR REGISTRATION…"/>
          <p:cNvSpPr txBox="1"/>
          <p:nvPr/>
        </p:nvSpPr>
        <p:spPr>
          <a:xfrm>
            <a:off x="3745934" y="5622935"/>
            <a:ext cx="4025479" cy="989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ACCURATE LUNAR REGISTRATION</a:t>
            </a:r>
          </a:p>
          <a:p>
            <a:pPr defTabSz="457200">
              <a:spcBef>
                <a:spcPts val="1200"/>
              </a:spcBef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Aligned images + reliable, uniformly distributed match points</a:t>
            </a:r>
            <a:endParaRPr b="0"/>
          </a:p>
        </p:txBody>
      </p:sp>
      <p:sp>
        <p:nvSpPr>
          <p:cNvPr id="157" name="Line"/>
          <p:cNvSpPr/>
          <p:nvPr/>
        </p:nvSpPr>
        <p:spPr>
          <a:xfrm>
            <a:off x="5578712" y="5350718"/>
            <a:ext cx="1" cy="335056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58" name="ADDRESSING THE CORE PROBLEM:…"/>
          <p:cNvSpPr txBox="1"/>
          <p:nvPr/>
        </p:nvSpPr>
        <p:spPr>
          <a:xfrm>
            <a:off x="8223353" y="1300621"/>
            <a:ext cx="3878258" cy="2158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500"/>
              </a:spcBef>
              <a:defRPr sz="12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ADDRESSING THE CORE PROBLEM:</a:t>
            </a:r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1. Sun-angle invariant</a:t>
            </a:r>
            <a:br/>
            <a:r>
              <a:t>Structural representation reduces dependence on changing shadows.</a:t>
            </a:r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2. Scale-aware</a:t>
            </a:r>
            <a:br/>
            <a:r>
              <a:t>Multi-resolution processing handles very different image resolutions.</a:t>
            </a:r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3. Multi-modal</a:t>
            </a:r>
            <a:br/>
            <a:r>
              <a:t>Common terrain representation bridges different sensors.</a:t>
            </a:r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4. Sub-pixel + uniform</a:t>
            </a:r>
            <a:br/>
            <a:r>
              <a:t>Refines trusted matches and distributes them across the scene.</a:t>
            </a:r>
          </a:p>
        </p:txBody>
      </p:sp>
      <p:sp>
        <p:nvSpPr>
          <p:cNvPr id="159" name="Line"/>
          <p:cNvSpPr/>
          <p:nvPr/>
        </p:nvSpPr>
        <p:spPr>
          <a:xfrm>
            <a:off x="8138985" y="3574032"/>
            <a:ext cx="4046993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BEYOND THE PROBLEM STATEMENT…"/>
          <p:cNvSpPr txBox="1"/>
          <p:nvPr/>
        </p:nvSpPr>
        <p:spPr>
          <a:xfrm>
            <a:off x="8223353" y="3574032"/>
            <a:ext cx="3878258" cy="297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spcBef>
                <a:spcPts val="1500"/>
              </a:spcBef>
              <a:defRPr sz="12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BEYOND THE PROBLEM STATEMENT</a:t>
            </a:r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1. Physics-guided</a:t>
            </a:r>
            <a:br/>
            <a:r>
              <a:t>Uses spacecraft geometry and DEM information when available.</a:t>
            </a:r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2. Adaptive pipeline</a:t>
            </a:r>
            <a:br/>
            <a:r>
              <a:t>Chooses the appropriate matching strategy based on sensor, scale and image conditions.</a:t>
            </a:r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3. Uncertainty-aware</a:t>
            </a:r>
            <a:br/>
            <a:r>
              <a:t>Reports confidence and can flag unreliable registration instead of forcing a bad result.</a:t>
            </a:r>
          </a:p>
          <a:p>
            <a:pPr defTabSz="457200"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4. Operational-ready</a:t>
            </a:r>
            <a:br/>
            <a:r>
              <a:t>Designed as a modular software system, not just an isolated algorithm.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67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68" name="Title 1"/>
          <p:cNvSpPr txBox="1">
            <a:spLocks noGrp="1"/>
          </p:cNvSpPr>
          <p:nvPr>
            <p:ph type="title"/>
          </p:nvPr>
        </p:nvSpPr>
        <p:spPr>
          <a:xfrm>
            <a:off x="609600" y="-75166"/>
            <a:ext cx="10972800" cy="1143001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TECHNICAL APPROACH</a:t>
            </a:r>
          </a:p>
        </p:txBody>
      </p:sp>
      <p:sp>
        <p:nvSpPr>
          <p:cNvPr id="169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172" name="Oval 10"/>
          <p:cNvGrpSpPr/>
          <p:nvPr/>
        </p:nvGrpSpPr>
        <p:grpSpPr>
          <a:xfrm>
            <a:off x="237671" y="129001"/>
            <a:ext cx="1251859" cy="807335"/>
            <a:chOff x="0" y="0"/>
            <a:chExt cx="1251857" cy="807334"/>
          </a:xfrm>
        </p:grpSpPr>
        <p:sp>
          <p:nvSpPr>
            <p:cNvPr id="170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71" name="Team Zenith"/>
            <p:cNvSpPr txBox="1"/>
            <p:nvPr/>
          </p:nvSpPr>
          <p:spPr>
            <a:xfrm>
              <a:off x="241749" y="91073"/>
              <a:ext cx="768358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Team Zenith</a:t>
              </a:r>
            </a:p>
          </p:txBody>
        </p:sp>
      </p:grpSp>
      <p:pic>
        <p:nvPicPr>
          <p:cNvPr id="173" name="Picture 11" descr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Line"/>
          <p:cNvSpPr/>
          <p:nvPr/>
        </p:nvSpPr>
        <p:spPr>
          <a:xfrm>
            <a:off x="208898" y="5019018"/>
            <a:ext cx="11862588" cy="34079"/>
          </a:xfrm>
          <a:prstGeom prst="line">
            <a:avLst/>
          </a:prstGeom>
          <a:ln w="38100">
            <a:solidFill>
              <a:schemeClr val="accent1"/>
            </a:solidFill>
            <a:custDash>
              <a:ds d="200000" sp="200000"/>
            </a:custDash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175" name="Tech Stack :"/>
          <p:cNvSpPr txBox="1"/>
          <p:nvPr/>
        </p:nvSpPr>
        <p:spPr>
          <a:xfrm>
            <a:off x="194312" y="5216511"/>
            <a:ext cx="110926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u="sng"/>
            </a:lvl1pPr>
          </a:lstStyle>
          <a:p>
            <a:r>
              <a:t>Tech Stack :</a:t>
            </a:r>
          </a:p>
        </p:txBody>
      </p:sp>
      <p:sp>
        <p:nvSpPr>
          <p:cNvPr id="176" name="Text 12"/>
          <p:cNvSpPr txBox="1"/>
          <p:nvPr/>
        </p:nvSpPr>
        <p:spPr>
          <a:xfrm>
            <a:off x="1383199" y="5268866"/>
            <a:ext cx="2809241" cy="359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>
              <a:lnSpc>
                <a:spcPct val="104999"/>
              </a:lnSpc>
              <a:defRPr sz="1000" b="1">
                <a:solidFill>
                  <a:srgbClr val="0D1B3E"/>
                </a:solidFill>
              </a:defRPr>
            </a:pPr>
            <a:r>
              <a:t>Core &amp; CV:</a:t>
            </a:r>
          </a:p>
          <a:p>
            <a:pPr>
              <a:lnSpc>
                <a:spcPct val="104999"/>
              </a:lnSpc>
              <a:defRPr sz="1000" b="1">
                <a:solidFill>
                  <a:srgbClr val="0D1B3E"/>
                </a:solidFill>
              </a:defRPr>
            </a:pPr>
            <a:r>
              <a:rPr b="0">
                <a:solidFill>
                  <a:srgbClr val="555566"/>
                </a:solidFill>
              </a:rPr>
              <a:t>Python, OpenCV, NumPy, SciPy, scikit-image</a:t>
            </a:r>
          </a:p>
        </p:txBody>
      </p:sp>
      <p:sp>
        <p:nvSpPr>
          <p:cNvPr id="177" name="Text 13"/>
          <p:cNvSpPr txBox="1"/>
          <p:nvPr/>
        </p:nvSpPr>
        <p:spPr>
          <a:xfrm>
            <a:off x="3311614" y="5813285"/>
            <a:ext cx="2809241" cy="35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t>Deep Learning:</a:t>
            </a:r>
          </a:p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rPr b="0">
                <a:solidFill>
                  <a:srgbClr val="555566"/>
                </a:solidFill>
              </a:rPr>
              <a:t>PyTorch, LoFTR / EfficientLoFTR, kornia</a:t>
            </a:r>
          </a:p>
        </p:txBody>
      </p:sp>
      <p:sp>
        <p:nvSpPr>
          <p:cNvPr id="178" name="Text 14"/>
          <p:cNvSpPr txBox="1"/>
          <p:nvPr/>
        </p:nvSpPr>
        <p:spPr>
          <a:xfrm>
            <a:off x="3945562" y="5270337"/>
            <a:ext cx="2809241" cy="35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t>Feature Matching:</a:t>
            </a:r>
          </a:p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rPr b="0">
                <a:solidFill>
                  <a:srgbClr val="555566"/>
                </a:solidFill>
              </a:rPr>
              <a:t>Phase Congruency (phasepack), SIFT / RootSIFT</a:t>
            </a:r>
          </a:p>
        </p:txBody>
      </p:sp>
      <p:sp>
        <p:nvSpPr>
          <p:cNvPr id="179" name="Text 15"/>
          <p:cNvSpPr txBox="1"/>
          <p:nvPr/>
        </p:nvSpPr>
        <p:spPr>
          <a:xfrm>
            <a:off x="5799115" y="5813285"/>
            <a:ext cx="2809240" cy="35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t>Geom. Verification:</a:t>
            </a:r>
          </a:p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rPr b="0">
                <a:solidFill>
                  <a:srgbClr val="555566"/>
                </a:solidFill>
              </a:rPr>
              <a:t>MAGSAC++ (pydegensac / OpenCV)</a:t>
            </a:r>
          </a:p>
        </p:txBody>
      </p:sp>
      <p:sp>
        <p:nvSpPr>
          <p:cNvPr id="180" name="Text 16"/>
          <p:cNvSpPr txBox="1"/>
          <p:nvPr/>
        </p:nvSpPr>
        <p:spPr>
          <a:xfrm>
            <a:off x="1589241" y="5758402"/>
            <a:ext cx="1435491" cy="356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t>Geospatial:</a:t>
            </a:r>
          </a:p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rPr b="0">
                <a:solidFill>
                  <a:srgbClr val="555566"/>
                </a:solidFill>
              </a:rPr>
              <a:t>GDAL, Rasterio, pyproj</a:t>
            </a:r>
          </a:p>
        </p:txBody>
      </p:sp>
      <p:sp>
        <p:nvSpPr>
          <p:cNvPr id="181" name="Text 17"/>
          <p:cNvSpPr txBox="1"/>
          <p:nvPr/>
        </p:nvSpPr>
        <p:spPr>
          <a:xfrm>
            <a:off x="208898" y="5758402"/>
            <a:ext cx="2809241" cy="356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t>Visualization:</a:t>
            </a:r>
          </a:p>
          <a:p>
            <a:pPr>
              <a:lnSpc>
                <a:spcPct val="104999"/>
              </a:lnSpc>
              <a:defRPr sz="1100" b="1">
                <a:solidFill>
                  <a:srgbClr val="0D1B3E"/>
                </a:solidFill>
              </a:defRPr>
            </a:pPr>
            <a:r>
              <a:rPr b="0">
                <a:solidFill>
                  <a:srgbClr val="555566"/>
                </a:solidFill>
              </a:rPr>
              <a:t>Matplotlib, Plotly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598" y="5536021"/>
            <a:ext cx="503239" cy="503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954" y="5447486"/>
            <a:ext cx="680310" cy="6803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4739" y="5407533"/>
            <a:ext cx="680310" cy="6803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pasted-movie.png" descr="pasted-mov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6059" y="5584604"/>
            <a:ext cx="503239" cy="503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pasted-movie.png" descr="pasted-mov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0307" y="5459997"/>
            <a:ext cx="655287" cy="655287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Line"/>
          <p:cNvSpPr/>
          <p:nvPr/>
        </p:nvSpPr>
        <p:spPr>
          <a:xfrm>
            <a:off x="2698" y="1133691"/>
            <a:ext cx="3488274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88" name="Shape 19"/>
          <p:cNvSpPr/>
          <p:nvPr/>
        </p:nvSpPr>
        <p:spPr>
          <a:xfrm>
            <a:off x="-10662" y="999565"/>
            <a:ext cx="3572647" cy="347473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Text 20"/>
          <p:cNvSpPr txBox="1"/>
          <p:nvPr/>
        </p:nvSpPr>
        <p:spPr>
          <a:xfrm>
            <a:off x="122193" y="1097848"/>
            <a:ext cx="3749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</a:defRPr>
            </a:lvl1pPr>
          </a:lstStyle>
          <a:p>
            <a:r>
              <a:t>Methodology</a:t>
            </a:r>
          </a:p>
        </p:txBody>
      </p:sp>
      <p:pic>
        <p:nvPicPr>
          <p:cNvPr id="190" name="pasted-movie.png" descr="pasted-movi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440071"/>
            <a:ext cx="3402076" cy="3536962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Line"/>
          <p:cNvSpPr/>
          <p:nvPr/>
        </p:nvSpPr>
        <p:spPr>
          <a:xfrm flipV="1">
            <a:off x="3606643" y="1150970"/>
            <a:ext cx="1" cy="3768267"/>
          </a:xfrm>
          <a:prstGeom prst="line">
            <a:avLst/>
          </a:prstGeom>
          <a:ln w="38100">
            <a:solidFill>
              <a:schemeClr val="accent1"/>
            </a:solidFill>
            <a:custDash>
              <a:ds d="200000" sp="200000"/>
            </a:custDash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192" name="pasted-movie.png" descr="pasted-movi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7235" y="1157592"/>
            <a:ext cx="4362851" cy="35369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asted-movie.png" descr="pasted-movi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98895" y="1809788"/>
            <a:ext cx="4193105" cy="3011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Line Line" descr="Line 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8014013" y="1386012"/>
            <a:ext cx="2233826" cy="101601"/>
          </a:xfrm>
          <a:prstGeom prst="rect">
            <a:avLst/>
          </a:prstGeom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pic>
        <p:nvPicPr>
          <p:cNvPr id="201" name="Connection Line" descr="Connection Line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0109591" y="1393385"/>
            <a:ext cx="81389" cy="454504"/>
          </a:xfrm>
          <a:prstGeom prst="rect">
            <a:avLst/>
          </a:prstGeom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pic>
        <p:nvPicPr>
          <p:cNvPr id="196" name="Line Line" descr="Line Line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6302897" y="3028577"/>
            <a:ext cx="3470927" cy="101601"/>
          </a:xfrm>
          <a:prstGeom prst="rect">
            <a:avLst/>
          </a:prstGeom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pic>
        <p:nvPicPr>
          <p:cNvPr id="197" name="Line Line" descr="Line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5813146" y="4723665"/>
            <a:ext cx="2310026" cy="101601"/>
          </a:xfrm>
          <a:prstGeom prst="rect">
            <a:avLst/>
          </a:prstGeom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pic>
        <p:nvPicPr>
          <p:cNvPr id="198" name="Line Line" descr="Line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5784479" y="4683218"/>
            <a:ext cx="268363" cy="101601"/>
          </a:xfrm>
          <a:prstGeom prst="rect">
            <a:avLst/>
          </a:prstGeom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sp>
        <p:nvSpPr>
          <p:cNvPr id="200" name="Line"/>
          <p:cNvSpPr/>
          <p:nvPr/>
        </p:nvSpPr>
        <p:spPr>
          <a:xfrm>
            <a:off x="3572909" y="1167668"/>
            <a:ext cx="8654576" cy="1"/>
          </a:xfrm>
          <a:prstGeom prst="line">
            <a:avLst/>
          </a:prstGeom>
          <a:ln w="38100">
            <a:solidFill>
              <a:schemeClr val="accent1"/>
            </a:solidFill>
            <a:custDash>
              <a:ds d="200000" sp="200000"/>
            </a:custDash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457200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206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207" name="Title 1"/>
          <p:cNvSpPr txBox="1">
            <a:spLocks noGrp="1"/>
          </p:cNvSpPr>
          <p:nvPr>
            <p:ph type="title"/>
          </p:nvPr>
        </p:nvSpPr>
        <p:spPr>
          <a:xfrm>
            <a:off x="609600" y="22623"/>
            <a:ext cx="10972800" cy="1143001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20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457200"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211" name="Oval 11"/>
          <p:cNvGrpSpPr/>
          <p:nvPr/>
        </p:nvGrpSpPr>
        <p:grpSpPr>
          <a:xfrm>
            <a:off x="53467" y="247401"/>
            <a:ext cx="1251859" cy="807335"/>
            <a:chOff x="0" y="0"/>
            <a:chExt cx="1251857" cy="807334"/>
          </a:xfrm>
        </p:grpSpPr>
        <p:sp>
          <p:nvSpPr>
            <p:cNvPr id="209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10" name="Team Zenith"/>
            <p:cNvSpPr txBox="1"/>
            <p:nvPr/>
          </p:nvSpPr>
          <p:spPr>
            <a:xfrm>
              <a:off x="241749" y="91073"/>
              <a:ext cx="768358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Team Zenith</a:t>
              </a:r>
            </a:p>
          </p:txBody>
        </p:sp>
      </p:grpSp>
      <p:pic>
        <p:nvPicPr>
          <p:cNvPr id="212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Shape 9"/>
          <p:cNvSpPr/>
          <p:nvPr/>
        </p:nvSpPr>
        <p:spPr>
          <a:xfrm>
            <a:off x="-1986" y="1092435"/>
            <a:ext cx="2473516" cy="347473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Text 10"/>
          <p:cNvSpPr txBox="1"/>
          <p:nvPr/>
        </p:nvSpPr>
        <p:spPr>
          <a:xfrm>
            <a:off x="135174" y="1182790"/>
            <a:ext cx="5486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</a:defRPr>
            </a:lvl1pPr>
          </a:lstStyle>
          <a:p>
            <a:r>
              <a:t>Feasibility Analysis</a:t>
            </a:r>
          </a:p>
        </p:txBody>
      </p:sp>
      <p:sp>
        <p:nvSpPr>
          <p:cNvPr id="215" name="Shape 11"/>
          <p:cNvSpPr/>
          <p:nvPr/>
        </p:nvSpPr>
        <p:spPr>
          <a:xfrm>
            <a:off x="2914" y="1504906"/>
            <a:ext cx="5760721" cy="48646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25400" dir="8100000" rotWithShape="0">
              <a:srgbClr val="CCCCCC">
                <a:alpha val="40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16" name="Shape 12"/>
          <p:cNvSpPr/>
          <p:nvPr/>
        </p:nvSpPr>
        <p:spPr>
          <a:xfrm>
            <a:off x="19924" y="1552357"/>
            <a:ext cx="1188721" cy="777241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" name="Text 13"/>
          <p:cNvSpPr txBox="1"/>
          <p:nvPr/>
        </p:nvSpPr>
        <p:spPr>
          <a:xfrm>
            <a:off x="19924" y="1778593"/>
            <a:ext cx="1163321" cy="350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Technical</a:t>
            </a:r>
            <a:endParaRPr sz="900"/>
          </a:p>
          <a:p>
            <a:pPr algn="ctr">
              <a:defRPr sz="1100" b="1">
                <a:solidFill>
                  <a:srgbClr val="0D1B3E"/>
                </a:solidFill>
              </a:defRPr>
            </a:pPr>
            <a:r>
              <a:t>Feasibility</a:t>
            </a:r>
          </a:p>
        </p:txBody>
      </p:sp>
      <p:sp>
        <p:nvSpPr>
          <p:cNvPr id="218" name="Text 14"/>
          <p:cNvSpPr txBox="1"/>
          <p:nvPr/>
        </p:nvSpPr>
        <p:spPr>
          <a:xfrm>
            <a:off x="1254364" y="1689693"/>
            <a:ext cx="4213861" cy="540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100">
                <a:solidFill>
                  <a:srgbClr val="2D2D3A"/>
                </a:solidFill>
              </a:defRPr>
            </a:lvl1pPr>
          </a:lstStyle>
          <a:p>
            <a:r>
              <a:t>Built entirely on open-source tools: Python, PyTorch, OpenCV, GDAL. SIFT, Phase Congruency, LoFTR, and MAGSAC++ are all published, peer-reviewed, and freely available. No proprietary dependencies.</a:t>
            </a:r>
          </a:p>
        </p:txBody>
      </p:sp>
      <p:sp>
        <p:nvSpPr>
          <p:cNvPr id="219" name="Shape 15"/>
          <p:cNvSpPr/>
          <p:nvPr/>
        </p:nvSpPr>
        <p:spPr>
          <a:xfrm>
            <a:off x="19924" y="2375317"/>
            <a:ext cx="1188721" cy="777241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" name="Text 16"/>
          <p:cNvSpPr txBox="1"/>
          <p:nvPr/>
        </p:nvSpPr>
        <p:spPr>
          <a:xfrm>
            <a:off x="19924" y="2601553"/>
            <a:ext cx="1163321" cy="350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Data</a:t>
            </a:r>
          </a:p>
          <a:p>
            <a:pPr algn="ctr">
              <a:defRPr sz="1100" b="1">
                <a:solidFill>
                  <a:srgbClr val="0D1B3E"/>
                </a:solidFill>
              </a:defRPr>
            </a:pPr>
            <a:r>
              <a:t>Feasibility</a:t>
            </a:r>
          </a:p>
        </p:txBody>
      </p:sp>
      <p:sp>
        <p:nvSpPr>
          <p:cNvPr id="221" name="Text 17"/>
          <p:cNvSpPr txBox="1"/>
          <p:nvPr/>
        </p:nvSpPr>
        <p:spPr>
          <a:xfrm>
            <a:off x="1254364" y="2512653"/>
            <a:ext cx="4213861" cy="540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100">
                <a:solidFill>
                  <a:srgbClr val="2D2D3A"/>
                </a:solidFill>
              </a:defRPr>
            </a:lvl1pPr>
          </a:lstStyle>
          <a:p>
            <a:r>
              <a:t>Chandrayaan-2 data available via ISSDC (chmapbrowse.issdc.gov.in). LRO NAC/WAC data from PDS/LROC archives. SLDEM2015 DEM for geometric reference. All publicly accessible for research.</a:t>
            </a:r>
          </a:p>
        </p:txBody>
      </p:sp>
      <p:sp>
        <p:nvSpPr>
          <p:cNvPr id="222" name="Shape 18"/>
          <p:cNvSpPr/>
          <p:nvPr/>
        </p:nvSpPr>
        <p:spPr>
          <a:xfrm>
            <a:off x="19924" y="3198277"/>
            <a:ext cx="1188721" cy="777241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3" name="Text 19"/>
          <p:cNvSpPr txBox="1"/>
          <p:nvPr/>
        </p:nvSpPr>
        <p:spPr>
          <a:xfrm>
            <a:off x="19924" y="3424513"/>
            <a:ext cx="1163321" cy="350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Hardware</a:t>
            </a:r>
          </a:p>
          <a:p>
            <a:pPr algn="ctr">
              <a:defRPr sz="1100" b="1">
                <a:solidFill>
                  <a:srgbClr val="0D1B3E"/>
                </a:solidFill>
              </a:defRPr>
            </a:pPr>
            <a:r>
              <a:t>Feasibility</a:t>
            </a:r>
          </a:p>
        </p:txBody>
      </p:sp>
      <p:sp>
        <p:nvSpPr>
          <p:cNvPr id="224" name="Text 20"/>
          <p:cNvSpPr txBox="1"/>
          <p:nvPr/>
        </p:nvSpPr>
        <p:spPr>
          <a:xfrm>
            <a:off x="1254364" y="3335613"/>
            <a:ext cx="4213861" cy="540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100">
                <a:solidFill>
                  <a:srgbClr val="2D2D3A"/>
                </a:solidFill>
              </a:defRPr>
            </a:lvl1pPr>
          </a:lstStyle>
          <a:p>
            <a:r>
              <a:t>Classical pipeline (SIFT + MAGSAC++ + sub-pixel) runs on any modern CPU. Learned matcher (LoFTR) benefits from GPU but is not a hard dependency. Tiered design ensures a working demo on any hardware.</a:t>
            </a:r>
          </a:p>
        </p:txBody>
      </p:sp>
      <p:sp>
        <p:nvSpPr>
          <p:cNvPr id="225" name="Shape 21"/>
          <p:cNvSpPr/>
          <p:nvPr/>
        </p:nvSpPr>
        <p:spPr>
          <a:xfrm>
            <a:off x="19924" y="4021237"/>
            <a:ext cx="1188721" cy="777241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Text 22"/>
          <p:cNvSpPr txBox="1"/>
          <p:nvPr/>
        </p:nvSpPr>
        <p:spPr>
          <a:xfrm>
            <a:off x="19924" y="4246071"/>
            <a:ext cx="1163321" cy="352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000" b="1">
                <a:solidFill>
                  <a:srgbClr val="0D1B3E"/>
                </a:solidFill>
              </a:defRPr>
            </a:pPr>
            <a:r>
              <a:t>Development</a:t>
            </a:r>
          </a:p>
          <a:p>
            <a:pPr algn="ctr">
              <a:defRPr sz="1000" b="1">
                <a:solidFill>
                  <a:srgbClr val="0D1B3E"/>
                </a:solidFill>
              </a:defRPr>
            </a:pPr>
            <a:r>
              <a:t>Feasibility</a:t>
            </a:r>
          </a:p>
        </p:txBody>
      </p:sp>
      <p:sp>
        <p:nvSpPr>
          <p:cNvPr id="227" name="Text 23"/>
          <p:cNvSpPr txBox="1"/>
          <p:nvPr/>
        </p:nvSpPr>
        <p:spPr>
          <a:xfrm>
            <a:off x="1254364" y="4158573"/>
            <a:ext cx="4213861" cy="540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100">
                <a:solidFill>
                  <a:srgbClr val="2D2D3A"/>
                </a:solidFill>
              </a:defRPr>
            </a:lvl1pPr>
          </a:lstStyle>
          <a:p>
            <a:r>
              <a:t>Modular pipeline: each stage is independent and testable. Tiered approach: Prototype (classical core) first, then learned enhancements. Parallel development possible across team members.</a:t>
            </a:r>
          </a:p>
        </p:txBody>
      </p:sp>
      <p:sp>
        <p:nvSpPr>
          <p:cNvPr id="228" name="Shape 24"/>
          <p:cNvSpPr/>
          <p:nvPr/>
        </p:nvSpPr>
        <p:spPr>
          <a:xfrm>
            <a:off x="19924" y="4844197"/>
            <a:ext cx="1188721" cy="777241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" name="Text 25"/>
          <p:cNvSpPr txBox="1"/>
          <p:nvPr/>
        </p:nvSpPr>
        <p:spPr>
          <a:xfrm>
            <a:off x="19924" y="5070433"/>
            <a:ext cx="1163321" cy="350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100" b="1">
                <a:solidFill>
                  <a:srgbClr val="0D1B3E"/>
                </a:solidFill>
              </a:defRPr>
            </a:pPr>
            <a:r>
              <a:t>Operational</a:t>
            </a:r>
          </a:p>
          <a:p>
            <a:pPr algn="ctr">
              <a:defRPr sz="1100" b="1">
                <a:solidFill>
                  <a:srgbClr val="0D1B3E"/>
                </a:solidFill>
              </a:defRPr>
            </a:pPr>
            <a:r>
              <a:t>Feasibility</a:t>
            </a:r>
          </a:p>
        </p:txBody>
      </p:sp>
      <p:sp>
        <p:nvSpPr>
          <p:cNvPr id="230" name="Text 26"/>
          <p:cNvSpPr txBox="1"/>
          <p:nvPr/>
        </p:nvSpPr>
        <p:spPr>
          <a:xfrm>
            <a:off x="1254364" y="4981533"/>
            <a:ext cx="4213861" cy="540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100">
                <a:solidFill>
                  <a:srgbClr val="2D2D3A"/>
                </a:solidFill>
              </a:defRPr>
            </a:lvl1pPr>
          </a:lstStyle>
          <a:p>
            <a:r>
              <a:t>Outputs standard GeoTIFF + match-point CSV. Integrates with existing ISRO/scientific workflows. Confidence scoring allows automated quality control.</a:t>
            </a:r>
          </a:p>
        </p:txBody>
      </p:sp>
      <p:pic>
        <p:nvPicPr>
          <p:cNvPr id="231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363864" y="1215371"/>
            <a:ext cx="3246900" cy="101601"/>
          </a:xfrm>
          <a:prstGeom prst="rect">
            <a:avLst/>
          </a:prstGeom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pic>
        <p:nvPicPr>
          <p:cNvPr id="232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970949" y="3737604"/>
            <a:ext cx="5146067" cy="101601"/>
          </a:xfrm>
          <a:prstGeom prst="rect">
            <a:avLst/>
          </a:prstGeom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  <p:grpSp>
        <p:nvGrpSpPr>
          <p:cNvPr id="235" name="Rounded Rectangle 17409"/>
          <p:cNvGrpSpPr/>
          <p:nvPr/>
        </p:nvGrpSpPr>
        <p:grpSpPr>
          <a:xfrm>
            <a:off x="5626091" y="1609237"/>
            <a:ext cx="1897125" cy="265599"/>
            <a:chOff x="0" y="0"/>
            <a:chExt cx="1897124" cy="265597"/>
          </a:xfrm>
        </p:grpSpPr>
        <p:sp>
          <p:nvSpPr>
            <p:cNvPr id="233" name="Rounded Rectangle"/>
            <p:cNvSpPr/>
            <p:nvPr/>
          </p:nvSpPr>
          <p:spPr>
            <a:xfrm>
              <a:off x="0" y="0"/>
              <a:ext cx="1897125" cy="265598"/>
            </a:xfrm>
            <a:prstGeom prst="roundRect">
              <a:avLst>
                <a:gd name="adj" fmla="val 16667"/>
              </a:avLst>
            </a:prstGeom>
            <a:solidFill>
              <a:srgbClr val="CC3300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4" name="CHALLENGE"/>
            <p:cNvSpPr txBox="1"/>
            <p:nvPr/>
          </p:nvSpPr>
          <p:spPr>
            <a:xfrm>
              <a:off x="39313" y="42516"/>
              <a:ext cx="1818499" cy="1805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 algn="ctr" defTabSz="457200">
                <a:defRPr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CHALLENGE</a:t>
              </a:r>
            </a:p>
          </p:txBody>
        </p:sp>
      </p:grpSp>
      <p:grpSp>
        <p:nvGrpSpPr>
          <p:cNvPr id="238" name="Rounded Rectangle 17410"/>
          <p:cNvGrpSpPr/>
          <p:nvPr/>
        </p:nvGrpSpPr>
        <p:grpSpPr>
          <a:xfrm>
            <a:off x="7511281" y="1614020"/>
            <a:ext cx="2423161" cy="256033"/>
            <a:chOff x="0" y="0"/>
            <a:chExt cx="2423160" cy="256031"/>
          </a:xfrm>
        </p:grpSpPr>
        <p:sp>
          <p:nvSpPr>
            <p:cNvPr id="236" name="Rounded Rectangle"/>
            <p:cNvSpPr/>
            <p:nvPr/>
          </p:nvSpPr>
          <p:spPr>
            <a:xfrm>
              <a:off x="0" y="0"/>
              <a:ext cx="2423161" cy="256032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7" name="OUR SOLUTION"/>
            <p:cNvSpPr txBox="1"/>
            <p:nvPr/>
          </p:nvSpPr>
          <p:spPr>
            <a:xfrm>
              <a:off x="37897" y="40985"/>
              <a:ext cx="2347366" cy="174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ctr" defTabSz="457200">
                <a:defRPr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OUR SOLUTION</a:t>
              </a:r>
            </a:p>
          </p:txBody>
        </p:sp>
      </p:grpSp>
      <p:grpSp>
        <p:nvGrpSpPr>
          <p:cNvPr id="241" name="Rounded Rectangle 17411"/>
          <p:cNvGrpSpPr/>
          <p:nvPr/>
        </p:nvGrpSpPr>
        <p:grpSpPr>
          <a:xfrm>
            <a:off x="10016996" y="1614020"/>
            <a:ext cx="2011681" cy="256033"/>
            <a:chOff x="0" y="0"/>
            <a:chExt cx="2011679" cy="256031"/>
          </a:xfrm>
        </p:grpSpPr>
        <p:sp>
          <p:nvSpPr>
            <p:cNvPr id="239" name="Rounded Rectangle"/>
            <p:cNvSpPr/>
            <p:nvPr/>
          </p:nvSpPr>
          <p:spPr>
            <a:xfrm>
              <a:off x="0" y="0"/>
              <a:ext cx="2011680" cy="256032"/>
            </a:xfrm>
            <a:prstGeom prst="roundRect">
              <a:avLst>
                <a:gd name="adj" fmla="val 16667"/>
              </a:avLst>
            </a:prstGeom>
            <a:solidFill>
              <a:srgbClr val="007A33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0" name="WHY FEASIBLE"/>
            <p:cNvSpPr txBox="1"/>
            <p:nvPr/>
          </p:nvSpPr>
          <p:spPr>
            <a:xfrm>
              <a:off x="37898" y="40985"/>
              <a:ext cx="1935884" cy="174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algn="ctr" defTabSz="457200">
                <a:defRPr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WHY FEASIBLE</a:t>
              </a:r>
            </a:p>
          </p:txBody>
        </p:sp>
      </p:grpSp>
      <p:sp>
        <p:nvSpPr>
          <p:cNvPr id="242" name="Rectangle 17412"/>
          <p:cNvSpPr/>
          <p:nvPr/>
        </p:nvSpPr>
        <p:spPr>
          <a:xfrm>
            <a:off x="5622916" y="1920555"/>
            <a:ext cx="1828801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3" name="TextBox 17413"/>
          <p:cNvSpPr txBox="1"/>
          <p:nvPr/>
        </p:nvSpPr>
        <p:spPr>
          <a:xfrm>
            <a:off x="5723500" y="1920555"/>
            <a:ext cx="1627633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5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320× scale gap</a:t>
            </a:r>
          </a:p>
        </p:txBody>
      </p:sp>
      <p:sp>
        <p:nvSpPr>
          <p:cNvPr id="244" name="Rectangle 17414"/>
          <p:cNvSpPr/>
          <p:nvPr/>
        </p:nvSpPr>
        <p:spPr>
          <a:xfrm>
            <a:off x="7511281" y="1915772"/>
            <a:ext cx="2423161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5" name="TextBox 17415"/>
          <p:cNvSpPr txBox="1"/>
          <p:nvPr/>
        </p:nvSpPr>
        <p:spPr>
          <a:xfrm>
            <a:off x="7611865" y="1915772"/>
            <a:ext cx="2221993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Hierarchical bridging via TMC-2 as candidate intermediate</a:t>
            </a:r>
          </a:p>
        </p:txBody>
      </p:sp>
      <p:sp>
        <p:nvSpPr>
          <p:cNvPr id="246" name="Rectangle 17416"/>
          <p:cNvSpPr/>
          <p:nvPr/>
        </p:nvSpPr>
        <p:spPr>
          <a:xfrm>
            <a:off x="10016996" y="1915772"/>
            <a:ext cx="2011680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7" name="TextBox 17417"/>
          <p:cNvSpPr txBox="1"/>
          <p:nvPr/>
        </p:nvSpPr>
        <p:spPr>
          <a:xfrm>
            <a:off x="10117580" y="1915772"/>
            <a:ext cx="1810512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0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~16-20:1 per link; no giant direct-scale search</a:t>
            </a:r>
          </a:p>
        </p:txBody>
      </p:sp>
      <p:sp>
        <p:nvSpPr>
          <p:cNvPr id="248" name="Rectangle 17418"/>
          <p:cNvSpPr/>
          <p:nvPr/>
        </p:nvSpPr>
        <p:spPr>
          <a:xfrm>
            <a:off x="5622916" y="2478339"/>
            <a:ext cx="1828801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9" name="TextBox 17419"/>
          <p:cNvSpPr txBox="1"/>
          <p:nvPr/>
        </p:nvSpPr>
        <p:spPr>
          <a:xfrm>
            <a:off x="5723500" y="2478339"/>
            <a:ext cx="1627633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Modality mismatch</a:t>
            </a:r>
          </a:p>
        </p:txBody>
      </p:sp>
      <p:sp>
        <p:nvSpPr>
          <p:cNvPr id="250" name="Rectangle 17420"/>
          <p:cNvSpPr/>
          <p:nvPr/>
        </p:nvSpPr>
        <p:spPr>
          <a:xfrm>
            <a:off x="7511281" y="2473556"/>
            <a:ext cx="2423161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1" name="TextBox 17421"/>
          <p:cNvSpPr txBox="1"/>
          <p:nvPr/>
        </p:nvSpPr>
        <p:spPr>
          <a:xfrm>
            <a:off x="7611865" y="2473556"/>
            <a:ext cx="2221993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Spectral-to-structural representation for cross-modal matching</a:t>
            </a:r>
          </a:p>
        </p:txBody>
      </p:sp>
      <p:sp>
        <p:nvSpPr>
          <p:cNvPr id="252" name="Rectangle 17422"/>
          <p:cNvSpPr/>
          <p:nvPr/>
        </p:nvSpPr>
        <p:spPr>
          <a:xfrm>
            <a:off x="10016996" y="2473556"/>
            <a:ext cx="2011680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3" name="TextBox 17423"/>
          <p:cNvSpPr txBox="1"/>
          <p:nvPr/>
        </p:nvSpPr>
        <p:spPr>
          <a:xfrm>
            <a:off x="10117580" y="2473556"/>
            <a:ext cx="1810512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Doesn't require raw intensity equivalence</a:t>
            </a:r>
          </a:p>
        </p:txBody>
      </p:sp>
      <p:sp>
        <p:nvSpPr>
          <p:cNvPr id="254" name="Rectangle 17424"/>
          <p:cNvSpPr/>
          <p:nvPr/>
        </p:nvSpPr>
        <p:spPr>
          <a:xfrm>
            <a:off x="5622916" y="3036123"/>
            <a:ext cx="1828801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5" name="TextBox 17425"/>
          <p:cNvSpPr txBox="1"/>
          <p:nvPr/>
        </p:nvSpPr>
        <p:spPr>
          <a:xfrm>
            <a:off x="5723500" y="3036123"/>
            <a:ext cx="1627633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Sun-angle variation</a:t>
            </a:r>
          </a:p>
        </p:txBody>
      </p:sp>
      <p:sp>
        <p:nvSpPr>
          <p:cNvPr id="256" name="Rectangle 17426"/>
          <p:cNvSpPr/>
          <p:nvPr/>
        </p:nvSpPr>
        <p:spPr>
          <a:xfrm>
            <a:off x="7511281" y="3031340"/>
            <a:ext cx="2423161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7" name="TextBox 17427"/>
          <p:cNvSpPr txBox="1"/>
          <p:nvPr/>
        </p:nvSpPr>
        <p:spPr>
          <a:xfrm>
            <a:off x="7611865" y="3031340"/>
            <a:ext cx="2221993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Phase congruency + gradient features (illumination-invariant)</a:t>
            </a:r>
          </a:p>
        </p:txBody>
      </p:sp>
      <p:sp>
        <p:nvSpPr>
          <p:cNvPr id="258" name="Rectangle 17428"/>
          <p:cNvSpPr/>
          <p:nvPr/>
        </p:nvSpPr>
        <p:spPr>
          <a:xfrm>
            <a:off x="10016996" y="3031340"/>
            <a:ext cx="2011680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9" name="TextBox 17429"/>
          <p:cNvSpPr txBox="1"/>
          <p:nvPr/>
        </p:nvSpPr>
        <p:spPr>
          <a:xfrm>
            <a:off x="10117580" y="3031340"/>
            <a:ext cx="1810512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Established CV technique with proven invariance</a:t>
            </a:r>
          </a:p>
        </p:txBody>
      </p:sp>
      <p:sp>
        <p:nvSpPr>
          <p:cNvPr id="260" name="Rectangle 17430"/>
          <p:cNvSpPr/>
          <p:nvPr/>
        </p:nvSpPr>
        <p:spPr>
          <a:xfrm>
            <a:off x="5622916" y="3593907"/>
            <a:ext cx="1828801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1" name="TextBox 17431"/>
          <p:cNvSpPr txBox="1"/>
          <p:nvPr/>
        </p:nvSpPr>
        <p:spPr>
          <a:xfrm>
            <a:off x="5723500" y="3593907"/>
            <a:ext cx="1627633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Outlier matches</a:t>
            </a:r>
          </a:p>
        </p:txBody>
      </p:sp>
      <p:sp>
        <p:nvSpPr>
          <p:cNvPr id="262" name="Rectangle 17432"/>
          <p:cNvSpPr/>
          <p:nvPr/>
        </p:nvSpPr>
        <p:spPr>
          <a:xfrm>
            <a:off x="7511281" y="3589124"/>
            <a:ext cx="2423161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3" name="TextBox 17433"/>
          <p:cNvSpPr txBox="1"/>
          <p:nvPr/>
        </p:nvSpPr>
        <p:spPr>
          <a:xfrm>
            <a:off x="7611865" y="3589124"/>
            <a:ext cx="2221993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MAGSAC++ geometric verification + inlier ratio filtering</a:t>
            </a:r>
          </a:p>
        </p:txBody>
      </p:sp>
      <p:sp>
        <p:nvSpPr>
          <p:cNvPr id="264" name="Rectangle 17434"/>
          <p:cNvSpPr/>
          <p:nvPr/>
        </p:nvSpPr>
        <p:spPr>
          <a:xfrm>
            <a:off x="10016996" y="3589124"/>
            <a:ext cx="2011680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TextBox 17435"/>
          <p:cNvSpPr txBox="1"/>
          <p:nvPr/>
        </p:nvSpPr>
        <p:spPr>
          <a:xfrm>
            <a:off x="10117580" y="3589124"/>
            <a:ext cx="1810512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Existing robust estimator; no custom model needed</a:t>
            </a:r>
          </a:p>
        </p:txBody>
      </p:sp>
      <p:sp>
        <p:nvSpPr>
          <p:cNvPr id="266" name="Rectangle 17436"/>
          <p:cNvSpPr/>
          <p:nvPr/>
        </p:nvSpPr>
        <p:spPr>
          <a:xfrm>
            <a:off x="5622916" y="4151691"/>
            <a:ext cx="1828801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7" name="TextBox 17437"/>
          <p:cNvSpPr txBox="1"/>
          <p:nvPr/>
        </p:nvSpPr>
        <p:spPr>
          <a:xfrm>
            <a:off x="5723500" y="4151691"/>
            <a:ext cx="1627633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Match clustering</a:t>
            </a:r>
          </a:p>
        </p:txBody>
      </p:sp>
      <p:sp>
        <p:nvSpPr>
          <p:cNvPr id="268" name="Rectangle 17438"/>
          <p:cNvSpPr/>
          <p:nvPr/>
        </p:nvSpPr>
        <p:spPr>
          <a:xfrm>
            <a:off x="7511281" y="4146908"/>
            <a:ext cx="2423161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9" name="TextBox 17439"/>
          <p:cNvSpPr txBox="1"/>
          <p:nvPr/>
        </p:nvSpPr>
        <p:spPr>
          <a:xfrm>
            <a:off x="7611865" y="4146908"/>
            <a:ext cx="2221993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Grid-based spatial balancing with per-cell ranking</a:t>
            </a:r>
          </a:p>
        </p:txBody>
      </p:sp>
      <p:sp>
        <p:nvSpPr>
          <p:cNvPr id="270" name="Rectangle 17440"/>
          <p:cNvSpPr/>
          <p:nvPr/>
        </p:nvSpPr>
        <p:spPr>
          <a:xfrm>
            <a:off x="10016996" y="4146908"/>
            <a:ext cx="2011680" cy="530353"/>
          </a:xfrm>
          <a:prstGeom prst="rect">
            <a:avLst/>
          </a:prstGeom>
          <a:solidFill>
            <a:srgbClr val="E8F1F8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1" name="TextBox 17441"/>
          <p:cNvSpPr txBox="1"/>
          <p:nvPr/>
        </p:nvSpPr>
        <p:spPr>
          <a:xfrm>
            <a:off x="10117580" y="4146908"/>
            <a:ext cx="1810512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Lightweight CPU operation; no learning required</a:t>
            </a:r>
          </a:p>
        </p:txBody>
      </p:sp>
      <p:sp>
        <p:nvSpPr>
          <p:cNvPr id="272" name="Rectangle 17442"/>
          <p:cNvSpPr/>
          <p:nvPr/>
        </p:nvSpPr>
        <p:spPr>
          <a:xfrm>
            <a:off x="5622916" y="4709475"/>
            <a:ext cx="1828801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3" name="TextBox 17443"/>
          <p:cNvSpPr txBox="1"/>
          <p:nvPr/>
        </p:nvSpPr>
        <p:spPr>
          <a:xfrm>
            <a:off x="5723500" y="4709475"/>
            <a:ext cx="1627633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300" b="1">
                <a:solidFill>
                  <a:srgbClr val="002D6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Large imagery</a:t>
            </a:r>
          </a:p>
        </p:txBody>
      </p:sp>
      <p:sp>
        <p:nvSpPr>
          <p:cNvPr id="274" name="Rectangle 17444"/>
          <p:cNvSpPr/>
          <p:nvPr/>
        </p:nvSpPr>
        <p:spPr>
          <a:xfrm>
            <a:off x="7511281" y="4704692"/>
            <a:ext cx="2423161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5" name="TextBox 17445"/>
          <p:cNvSpPr txBox="1"/>
          <p:nvPr/>
        </p:nvSpPr>
        <p:spPr>
          <a:xfrm>
            <a:off x="7611865" y="4704692"/>
            <a:ext cx="2221993" cy="442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Tile-based hierarchical processing</a:t>
            </a:r>
          </a:p>
        </p:txBody>
      </p:sp>
      <p:sp>
        <p:nvSpPr>
          <p:cNvPr id="276" name="Rectangle 17446"/>
          <p:cNvSpPr/>
          <p:nvPr/>
        </p:nvSpPr>
        <p:spPr>
          <a:xfrm>
            <a:off x="10016996" y="4704692"/>
            <a:ext cx="2011680" cy="53035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7" name="TextBox 17447"/>
          <p:cNvSpPr txBox="1"/>
          <p:nvPr/>
        </p:nvSpPr>
        <p:spPr>
          <a:xfrm>
            <a:off x="10117580" y="4704692"/>
            <a:ext cx="1810512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100">
                <a:solidFill>
                  <a:srgbClr val="007A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Processes manageable patches; standard approach</a:t>
            </a:r>
          </a:p>
        </p:txBody>
      </p:sp>
      <p:sp>
        <p:nvSpPr>
          <p:cNvPr id="278" name="Shape 27"/>
          <p:cNvSpPr/>
          <p:nvPr/>
        </p:nvSpPr>
        <p:spPr>
          <a:xfrm>
            <a:off x="6648919" y="1092435"/>
            <a:ext cx="5543082" cy="347473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9" name="Text 28"/>
          <p:cNvSpPr txBox="1"/>
          <p:nvPr/>
        </p:nvSpPr>
        <p:spPr>
          <a:xfrm>
            <a:off x="6786078" y="1182790"/>
            <a:ext cx="53492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FFFFFF"/>
                </a:solidFill>
              </a:defRPr>
            </a:lvl1pPr>
          </a:lstStyle>
          <a:p>
            <a:r>
              <a:t>Challenges and Strategies</a:t>
            </a:r>
          </a:p>
        </p:txBody>
      </p:sp>
      <p:pic>
        <p:nvPicPr>
          <p:cNvPr id="280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442300" y="1218897"/>
            <a:ext cx="1277259" cy="101601"/>
          </a:xfrm>
          <a:prstGeom prst="rect">
            <a:avLst/>
          </a:prstGeom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457200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285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286" name="Title 1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IMPACT AND BENEFITS</a:t>
            </a:r>
          </a:p>
        </p:txBody>
      </p:sp>
      <p:sp>
        <p:nvSpPr>
          <p:cNvPr id="287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457200"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grpSp>
        <p:nvGrpSpPr>
          <p:cNvPr id="290" name="Oval 11"/>
          <p:cNvGrpSpPr/>
          <p:nvPr/>
        </p:nvGrpSpPr>
        <p:grpSpPr>
          <a:xfrm>
            <a:off x="329772" y="252245"/>
            <a:ext cx="1251859" cy="807335"/>
            <a:chOff x="0" y="0"/>
            <a:chExt cx="1251857" cy="807334"/>
          </a:xfrm>
        </p:grpSpPr>
        <p:sp>
          <p:nvSpPr>
            <p:cNvPr id="288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89" name="Team Zenith"/>
            <p:cNvSpPr txBox="1"/>
            <p:nvPr/>
          </p:nvSpPr>
          <p:spPr>
            <a:xfrm>
              <a:off x="241749" y="91073"/>
              <a:ext cx="768358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Team Zenith</a:t>
              </a:r>
            </a:p>
          </p:txBody>
        </p:sp>
      </p:grpSp>
      <p:pic>
        <p:nvPicPr>
          <p:cNvPr id="291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Shape 9"/>
          <p:cNvSpPr/>
          <p:nvPr/>
        </p:nvSpPr>
        <p:spPr>
          <a:xfrm>
            <a:off x="-1" y="1212407"/>
            <a:ext cx="2707565" cy="589045"/>
          </a:xfrm>
          <a:prstGeom prst="roundRect">
            <a:avLst>
              <a:gd name="adj" fmla="val 16481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3" name="Line"/>
          <p:cNvSpPr/>
          <p:nvPr/>
        </p:nvSpPr>
        <p:spPr>
          <a:xfrm>
            <a:off x="2707298" y="1473631"/>
            <a:ext cx="6483856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4" name="Text 10"/>
          <p:cNvSpPr txBox="1"/>
          <p:nvPr/>
        </p:nvSpPr>
        <p:spPr>
          <a:xfrm>
            <a:off x="241646" y="1354501"/>
            <a:ext cx="2086138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 b="1">
                <a:solidFill>
                  <a:srgbClr val="FFFFFF"/>
                </a:solidFill>
              </a:defRPr>
            </a:lvl1pPr>
          </a:lstStyle>
          <a:p>
            <a:r>
              <a:t>Projected Outcomes</a:t>
            </a:r>
          </a:p>
        </p:txBody>
      </p:sp>
      <p:sp>
        <p:nvSpPr>
          <p:cNvPr id="295" name="Shape 27"/>
          <p:cNvSpPr/>
          <p:nvPr/>
        </p:nvSpPr>
        <p:spPr>
          <a:xfrm>
            <a:off x="9079439" y="1228689"/>
            <a:ext cx="3112561" cy="503239"/>
          </a:xfrm>
          <a:prstGeom prst="roundRect">
            <a:avLst>
              <a:gd name="adj" fmla="val 14537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6" name="Text 28"/>
          <p:cNvSpPr txBox="1"/>
          <p:nvPr/>
        </p:nvSpPr>
        <p:spPr>
          <a:xfrm>
            <a:off x="10450229" y="1354209"/>
            <a:ext cx="1050714" cy="23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 b="1">
                <a:solidFill>
                  <a:srgbClr val="FFFFFF"/>
                </a:solidFill>
              </a:defRPr>
            </a:lvl1pPr>
          </a:lstStyle>
          <a:p>
            <a:r>
              <a:t>Benefits</a:t>
            </a:r>
          </a:p>
        </p:txBody>
      </p:sp>
      <p:sp>
        <p:nvSpPr>
          <p:cNvPr id="297" name="Line"/>
          <p:cNvSpPr/>
          <p:nvPr/>
        </p:nvSpPr>
        <p:spPr>
          <a:xfrm flipV="1">
            <a:off x="6057670" y="1478938"/>
            <a:ext cx="1" cy="4883218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8" name="Shape 12"/>
          <p:cNvSpPr/>
          <p:nvPr/>
        </p:nvSpPr>
        <p:spPr>
          <a:xfrm>
            <a:off x="307865" y="1977434"/>
            <a:ext cx="1325881" cy="804673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299" name="Text 13"/>
          <p:cNvSpPr txBox="1"/>
          <p:nvPr/>
        </p:nvSpPr>
        <p:spPr>
          <a:xfrm>
            <a:off x="307865" y="1978889"/>
            <a:ext cx="1300481" cy="827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Working Multi-Sensor</a:t>
            </a:r>
          </a:p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Registration System</a:t>
            </a:r>
          </a:p>
        </p:txBody>
      </p:sp>
      <p:sp>
        <p:nvSpPr>
          <p:cNvPr id="300" name="Text 14"/>
          <p:cNvSpPr txBox="1"/>
          <p:nvPr/>
        </p:nvSpPr>
        <p:spPr>
          <a:xfrm>
            <a:off x="1679465" y="1972539"/>
            <a:ext cx="4076701" cy="85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</a:defRPr>
            </a:lvl1pPr>
          </a:lstStyle>
          <a:p>
            <a:r>
              <a:t>A functional pipeline that registers Chandrayaan-2 OHRC, TMC-2, and IIRS imagery against LRO NAC/WAC references — the first demonstrated system handling all three sensors in a unified framework.</a:t>
            </a:r>
          </a:p>
        </p:txBody>
      </p:sp>
      <p:sp>
        <p:nvSpPr>
          <p:cNvPr id="301" name="Shape 15"/>
          <p:cNvSpPr/>
          <p:nvPr/>
        </p:nvSpPr>
        <p:spPr>
          <a:xfrm>
            <a:off x="307865" y="2827826"/>
            <a:ext cx="1325881" cy="804673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02" name="Text 16"/>
          <p:cNvSpPr txBox="1"/>
          <p:nvPr/>
        </p:nvSpPr>
        <p:spPr>
          <a:xfrm>
            <a:off x="307865" y="2930881"/>
            <a:ext cx="1300481" cy="623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Automated Match</a:t>
            </a:r>
          </a:p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Point Generation</a:t>
            </a:r>
          </a:p>
        </p:txBody>
      </p:sp>
      <p:sp>
        <p:nvSpPr>
          <p:cNvPr id="303" name="Text 17"/>
          <p:cNvSpPr txBox="1"/>
          <p:nvPr/>
        </p:nvSpPr>
        <p:spPr>
          <a:xfrm>
            <a:off x="1679465" y="2924531"/>
            <a:ext cx="4076701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</a:defRPr>
            </a:lvl1pPr>
          </a:lstStyle>
          <a:p>
            <a:r>
              <a:t>Sub-pixel accurate, spatially uniform correspondence points generated automatically. Replaces manual GCP-based workflows currently used at ISRO (Nagori et al., 2026).</a:t>
            </a:r>
          </a:p>
        </p:txBody>
      </p:sp>
      <p:sp>
        <p:nvSpPr>
          <p:cNvPr id="304" name="Shape 18"/>
          <p:cNvSpPr/>
          <p:nvPr/>
        </p:nvSpPr>
        <p:spPr>
          <a:xfrm>
            <a:off x="307865" y="3678218"/>
            <a:ext cx="1325881" cy="804673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05" name="Text 19"/>
          <p:cNvSpPr txBox="1"/>
          <p:nvPr/>
        </p:nvSpPr>
        <p:spPr>
          <a:xfrm>
            <a:off x="307865" y="3781273"/>
            <a:ext cx="1300481" cy="623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Confidence-Aware</a:t>
            </a:r>
          </a:p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Quality Output</a:t>
            </a:r>
          </a:p>
        </p:txBody>
      </p:sp>
      <p:sp>
        <p:nvSpPr>
          <p:cNvPr id="306" name="Text 20"/>
          <p:cNvSpPr txBox="1"/>
          <p:nvPr/>
        </p:nvSpPr>
        <p:spPr>
          <a:xfrm>
            <a:off x="1679465" y="3673323"/>
            <a:ext cx="4076701" cy="852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</a:defRPr>
            </a:lvl1pPr>
          </a:lstStyle>
          <a:p>
            <a:r>
              <a:t>Every registration includes RMSE, inlier ratio, spatial coverage metrics, and an honest confidence label (Registered / Low Confidence / Failed). No false precision claims.</a:t>
            </a:r>
          </a:p>
        </p:txBody>
      </p:sp>
      <p:sp>
        <p:nvSpPr>
          <p:cNvPr id="307" name="Shape 21"/>
          <p:cNvSpPr/>
          <p:nvPr/>
        </p:nvSpPr>
        <p:spPr>
          <a:xfrm>
            <a:off x="307865" y="4528610"/>
            <a:ext cx="1325881" cy="804673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08" name="Text 22"/>
          <p:cNvSpPr txBox="1"/>
          <p:nvPr/>
        </p:nvSpPr>
        <p:spPr>
          <a:xfrm>
            <a:off x="307865" y="4530065"/>
            <a:ext cx="1300481" cy="827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Benchmark Dataset &amp;</a:t>
            </a:r>
          </a:p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Evaluation Framework</a:t>
            </a:r>
          </a:p>
        </p:txBody>
      </p:sp>
      <p:sp>
        <p:nvSpPr>
          <p:cNvPr id="309" name="Text 23"/>
          <p:cNvSpPr txBox="1"/>
          <p:nvPr/>
        </p:nvSpPr>
        <p:spPr>
          <a:xfrm>
            <a:off x="1679465" y="4625315"/>
            <a:ext cx="4076701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</a:defRPr>
            </a:lvl1pPr>
          </a:lstStyle>
          <a:p>
            <a:r>
              <a:t>The first systematic evaluation protocol for multi-modal Chandrayaan-2 registration, establishing baselines for future research.</a:t>
            </a:r>
          </a:p>
        </p:txBody>
      </p:sp>
      <p:sp>
        <p:nvSpPr>
          <p:cNvPr id="310" name="Shape 24"/>
          <p:cNvSpPr/>
          <p:nvPr/>
        </p:nvSpPr>
        <p:spPr>
          <a:xfrm>
            <a:off x="307865" y="5379002"/>
            <a:ext cx="1325881" cy="804673"/>
          </a:xfrm>
          <a:prstGeom prst="rect">
            <a:avLst/>
          </a:prstGeom>
          <a:solidFill>
            <a:srgbClr val="E8EDF5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11" name="Text 25"/>
          <p:cNvSpPr txBox="1"/>
          <p:nvPr/>
        </p:nvSpPr>
        <p:spPr>
          <a:xfrm>
            <a:off x="307865" y="5583657"/>
            <a:ext cx="1300481" cy="420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Open-Source</a:t>
            </a:r>
          </a:p>
          <a:p>
            <a:pPr algn="ctr">
              <a:defRPr sz="1300" b="1" i="1">
                <a:solidFill>
                  <a:srgbClr val="0D1B3E"/>
                </a:solidFill>
              </a:defRPr>
            </a:pPr>
            <a:r>
              <a:t>Reproducibility</a:t>
            </a:r>
          </a:p>
        </p:txBody>
      </p:sp>
      <p:sp>
        <p:nvSpPr>
          <p:cNvPr id="312" name="Text 26"/>
          <p:cNvSpPr txBox="1"/>
          <p:nvPr/>
        </p:nvSpPr>
        <p:spPr>
          <a:xfrm>
            <a:off x="1679465" y="5475707"/>
            <a:ext cx="4076701" cy="64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300">
                <a:solidFill>
                  <a:srgbClr val="2D2D3A"/>
                </a:solidFill>
              </a:defRPr>
            </a:lvl1pPr>
          </a:lstStyle>
          <a:p>
            <a:r>
              <a:t>Built on open-source tools. Every module is independently testable. Can be extended by ISRO or the research community.</a:t>
            </a:r>
          </a:p>
        </p:txBody>
      </p:sp>
      <p:sp>
        <p:nvSpPr>
          <p:cNvPr id="313" name="Shape 30"/>
          <p:cNvSpPr/>
          <p:nvPr/>
        </p:nvSpPr>
        <p:spPr>
          <a:xfrm>
            <a:off x="6359175" y="1903095"/>
            <a:ext cx="1325881" cy="804673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14" name="Text 31"/>
          <p:cNvSpPr txBox="1"/>
          <p:nvPr/>
        </p:nvSpPr>
        <p:spPr>
          <a:xfrm>
            <a:off x="6359175" y="2198052"/>
            <a:ext cx="1300481" cy="24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Scientific</a:t>
            </a:r>
          </a:p>
        </p:txBody>
      </p:sp>
      <p:sp>
        <p:nvSpPr>
          <p:cNvPr id="315" name="Text 32"/>
          <p:cNvSpPr txBox="1"/>
          <p:nvPr/>
        </p:nvSpPr>
        <p:spPr>
          <a:xfrm>
            <a:off x="7730776" y="1922199"/>
            <a:ext cx="3939541" cy="80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200">
                <a:solidFill>
                  <a:srgbClr val="2D2D3A"/>
                </a:solidFill>
              </a:defRPr>
            </a:lvl1pPr>
          </a:lstStyle>
          <a:p>
            <a:r>
              <a:t>Enables precise co-registration of multi-sensor lunar data for geological mapping, mineralogical analysis, and landing-site characterization. Supports Chandrayaan-3/4 mission planning. Strengthens India's planetary science capabilities.</a:t>
            </a:r>
          </a:p>
        </p:txBody>
      </p:sp>
      <p:sp>
        <p:nvSpPr>
          <p:cNvPr id="316" name="Shape 33"/>
          <p:cNvSpPr/>
          <p:nvPr/>
        </p:nvSpPr>
        <p:spPr>
          <a:xfrm>
            <a:off x="6359175" y="2753487"/>
            <a:ext cx="1325881" cy="804673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17" name="Text 34"/>
          <p:cNvSpPr txBox="1"/>
          <p:nvPr/>
        </p:nvSpPr>
        <p:spPr>
          <a:xfrm>
            <a:off x="6359175" y="3048444"/>
            <a:ext cx="1300481" cy="24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Economic</a:t>
            </a:r>
          </a:p>
        </p:txBody>
      </p:sp>
      <p:sp>
        <p:nvSpPr>
          <p:cNvPr id="318" name="Text 35"/>
          <p:cNvSpPr txBox="1"/>
          <p:nvPr/>
        </p:nvSpPr>
        <p:spPr>
          <a:xfrm>
            <a:off x="7730776" y="2753541"/>
            <a:ext cx="3939541" cy="80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200">
                <a:solidFill>
                  <a:srgbClr val="2D2D3A"/>
                </a:solidFill>
              </a:defRPr>
            </a:lvl1pPr>
          </a:lstStyle>
          <a:p>
            <a:r>
              <a:t>Automates labor-intensive manual registration workflows at ISRO/NRSC. Reduces processing time from hours to minutes per image pair. Saves expert human effort for higher-level analysis.</a:t>
            </a:r>
          </a:p>
        </p:txBody>
      </p:sp>
      <p:sp>
        <p:nvSpPr>
          <p:cNvPr id="319" name="Shape 36"/>
          <p:cNvSpPr/>
          <p:nvPr/>
        </p:nvSpPr>
        <p:spPr>
          <a:xfrm>
            <a:off x="6359175" y="3603880"/>
            <a:ext cx="1325881" cy="804673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20" name="Text 37"/>
          <p:cNvSpPr txBox="1"/>
          <p:nvPr/>
        </p:nvSpPr>
        <p:spPr>
          <a:xfrm>
            <a:off x="6359175" y="3898836"/>
            <a:ext cx="1300481" cy="24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Social</a:t>
            </a:r>
          </a:p>
        </p:txBody>
      </p:sp>
      <p:sp>
        <p:nvSpPr>
          <p:cNvPr id="321" name="Text 38"/>
          <p:cNvSpPr txBox="1"/>
          <p:nvPr/>
        </p:nvSpPr>
        <p:spPr>
          <a:xfrm>
            <a:off x="7730776" y="3622983"/>
            <a:ext cx="3939541" cy="80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200">
                <a:solidFill>
                  <a:srgbClr val="2D2D3A"/>
                </a:solidFill>
              </a:defRPr>
            </a:lvl1pPr>
          </a:lstStyle>
          <a:p>
            <a:r>
              <a:t>Contributes to India's space program and scientific reputation. Open-source tools empower Indian universities and research institutions. Demonstrates student capability in space-technology R&amp;D.</a:t>
            </a:r>
          </a:p>
        </p:txBody>
      </p:sp>
      <p:sp>
        <p:nvSpPr>
          <p:cNvPr id="322" name="Shape 39"/>
          <p:cNvSpPr/>
          <p:nvPr/>
        </p:nvSpPr>
        <p:spPr>
          <a:xfrm>
            <a:off x="6359175" y="4454271"/>
            <a:ext cx="1325881" cy="804673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23" name="Text 40"/>
          <p:cNvSpPr txBox="1"/>
          <p:nvPr/>
        </p:nvSpPr>
        <p:spPr>
          <a:xfrm>
            <a:off x="6359175" y="4749228"/>
            <a:ext cx="1300481" cy="24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r>
              <a:t>Environmental</a:t>
            </a:r>
          </a:p>
        </p:txBody>
      </p:sp>
      <p:sp>
        <p:nvSpPr>
          <p:cNvPr id="324" name="Text 41"/>
          <p:cNvSpPr txBox="1"/>
          <p:nvPr/>
        </p:nvSpPr>
        <p:spPr>
          <a:xfrm>
            <a:off x="7730776" y="4473375"/>
            <a:ext cx="3939541" cy="80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200">
                <a:solidFill>
                  <a:srgbClr val="2D2D3A"/>
                </a:solidFill>
              </a:defRPr>
            </a:lvl1pPr>
          </a:lstStyle>
          <a:p>
            <a:r>
              <a:t>Accurate lunar surface maps support future resource identification (water-ice mapping at poles). Better registration improves remote sensing data quality for environmental monitoring analogues.</a:t>
            </a:r>
          </a:p>
        </p:txBody>
      </p:sp>
      <p:sp>
        <p:nvSpPr>
          <p:cNvPr id="325" name="Shape 42"/>
          <p:cNvSpPr/>
          <p:nvPr/>
        </p:nvSpPr>
        <p:spPr>
          <a:xfrm>
            <a:off x="6359175" y="5304663"/>
            <a:ext cx="1325881" cy="804673"/>
          </a:xfrm>
          <a:prstGeom prst="rect">
            <a:avLst/>
          </a:prstGeom>
          <a:solidFill>
            <a:srgbClr val="0D1B3E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  <a:endParaRPr/>
          </a:p>
        </p:txBody>
      </p:sp>
      <p:sp>
        <p:nvSpPr>
          <p:cNvPr id="326" name="Text 43"/>
          <p:cNvSpPr txBox="1"/>
          <p:nvPr/>
        </p:nvSpPr>
        <p:spPr>
          <a:xfrm>
            <a:off x="6359175" y="5485320"/>
            <a:ext cx="1300481" cy="46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Organizational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&amp; Operational</a:t>
            </a:r>
          </a:p>
        </p:txBody>
      </p:sp>
      <p:sp>
        <p:nvSpPr>
          <p:cNvPr id="327" name="Text 44"/>
          <p:cNvSpPr txBox="1"/>
          <p:nvPr/>
        </p:nvSpPr>
        <p:spPr>
          <a:xfrm>
            <a:off x="7730776" y="5323767"/>
            <a:ext cx="3939541" cy="80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>
            <a:spAutoFit/>
          </a:bodyPr>
          <a:lstStyle>
            <a:lvl1pPr>
              <a:defRPr sz="1200">
                <a:solidFill>
                  <a:srgbClr val="2D2D3A"/>
                </a:solidFill>
              </a:defRPr>
            </a:lvl1pPr>
          </a:lstStyle>
          <a:p>
            <a:r>
              <a:t>Modular pipeline integrates into existing ISSDC data-processing chains. Confidence scoring enables automated quality gates. Reduces dependency on specific personnel for registration tasks.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 defTabSz="457200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332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 defTabSz="457200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333" name="Title 1"/>
          <p:cNvSpPr txBox="1">
            <a:spLocks noGrp="1"/>
          </p:cNvSpPr>
          <p:nvPr>
            <p:ph type="title"/>
          </p:nvPr>
        </p:nvSpPr>
        <p:spPr>
          <a:xfrm>
            <a:off x="269267" y="189866"/>
            <a:ext cx="10972801" cy="932094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RESEARCH  AND REFERENCES</a:t>
            </a:r>
          </a:p>
        </p:txBody>
      </p:sp>
      <p:sp>
        <p:nvSpPr>
          <p:cNvPr id="334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457200"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grpSp>
        <p:nvGrpSpPr>
          <p:cNvPr id="337" name="Oval 8"/>
          <p:cNvGrpSpPr/>
          <p:nvPr/>
        </p:nvGrpSpPr>
        <p:grpSpPr>
          <a:xfrm>
            <a:off x="329772" y="252245"/>
            <a:ext cx="1251859" cy="807335"/>
            <a:chOff x="0" y="0"/>
            <a:chExt cx="1251857" cy="807334"/>
          </a:xfrm>
        </p:grpSpPr>
        <p:sp>
          <p:nvSpPr>
            <p:cNvPr id="335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36" name="Team Zenith"/>
            <p:cNvSpPr txBox="1"/>
            <p:nvPr/>
          </p:nvSpPr>
          <p:spPr>
            <a:xfrm>
              <a:off x="241749" y="91073"/>
              <a:ext cx="768358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Team Zenith</a:t>
              </a:r>
            </a:p>
          </p:txBody>
        </p:sp>
      </p:grpSp>
      <p:pic>
        <p:nvPicPr>
          <p:cNvPr id="338" name="Picture 11" descr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339" name="Rectangle"/>
          <p:cNvSpPr/>
          <p:nvPr/>
        </p:nvSpPr>
        <p:spPr>
          <a:xfrm>
            <a:off x="-7293" y="1109114"/>
            <a:ext cx="12192001" cy="530574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0" name="Line"/>
          <p:cNvSpPr/>
          <p:nvPr/>
        </p:nvSpPr>
        <p:spPr>
          <a:xfrm flipV="1">
            <a:off x="6221858" y="1111035"/>
            <a:ext cx="28344" cy="5303819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1" name="PRIMARY SOURCES:"/>
          <p:cNvSpPr txBox="1"/>
          <p:nvPr/>
        </p:nvSpPr>
        <p:spPr>
          <a:xfrm>
            <a:off x="6292276" y="1155292"/>
            <a:ext cx="167490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3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PRIMARY SOURCES:</a:t>
            </a:r>
          </a:p>
        </p:txBody>
      </p:sp>
      <p:sp>
        <p:nvSpPr>
          <p:cNvPr id="342" name="ISRO / ISSDC • LROC • USGS Astrogeology • CVPR • IEEE TIP • ISPRS"/>
          <p:cNvSpPr txBox="1"/>
          <p:nvPr/>
        </p:nvSpPr>
        <p:spPr>
          <a:xfrm>
            <a:off x="6326814" y="1391825"/>
            <a:ext cx="546188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1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ISRO / ISSDC • LROC • USGS Astrogeology • CVPR • IEEE TIP • ISPRS</a:t>
            </a:r>
          </a:p>
        </p:txBody>
      </p:sp>
      <p:sp>
        <p:nvSpPr>
          <p:cNvPr id="343" name="MISSION DATA:"/>
          <p:cNvSpPr txBox="1"/>
          <p:nvPr/>
        </p:nvSpPr>
        <p:spPr>
          <a:xfrm>
            <a:off x="17828" y="1155292"/>
            <a:ext cx="60304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spcBef>
                <a:spcPts val="1400"/>
              </a:spcBef>
              <a:defRPr sz="12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MISSION DATA:</a:t>
            </a:r>
          </a:p>
        </p:txBody>
      </p:sp>
      <p:pic>
        <p:nvPicPr>
          <p:cNvPr id="344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08" y="1543932"/>
            <a:ext cx="503239" cy="503239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CHANDRAYAAN-2"/>
          <p:cNvSpPr txBox="1"/>
          <p:nvPr/>
        </p:nvSpPr>
        <p:spPr>
          <a:xfrm>
            <a:off x="40854" y="2085319"/>
            <a:ext cx="100127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900"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CHANDRAYAAN-2</a:t>
            </a:r>
          </a:p>
        </p:txBody>
      </p:sp>
      <p:sp>
        <p:nvSpPr>
          <p:cNvPr id="346" name="Line"/>
          <p:cNvSpPr/>
          <p:nvPr/>
        </p:nvSpPr>
        <p:spPr>
          <a:xfrm>
            <a:off x="901951" y="1874702"/>
            <a:ext cx="400521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pic>
        <p:nvPicPr>
          <p:cNvPr id="347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0077" y="1543932"/>
            <a:ext cx="598052" cy="503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6897" y="1545777"/>
            <a:ext cx="598052" cy="499549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asted-movie.png" descr="pasted-mov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173" y="1551561"/>
            <a:ext cx="598052" cy="487981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OHRC ~28 cm/pixel • Panchromatic"/>
          <p:cNvSpPr txBox="1"/>
          <p:nvPr/>
        </p:nvSpPr>
        <p:spPr>
          <a:xfrm>
            <a:off x="1549024" y="2085319"/>
            <a:ext cx="134294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200"/>
              </a:spcBef>
              <a:defRPr sz="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OHRC</a:t>
            </a:r>
            <a:br/>
            <a:r>
              <a:t>~28 cm/pixel • Panchromatic</a:t>
            </a:r>
          </a:p>
        </p:txBody>
      </p:sp>
      <p:sp>
        <p:nvSpPr>
          <p:cNvPr id="351" name="TMC-2 5 m/pixel • Panchromatic • Stereo"/>
          <p:cNvSpPr txBox="1"/>
          <p:nvPr/>
        </p:nvSpPr>
        <p:spPr>
          <a:xfrm>
            <a:off x="3103256" y="2085319"/>
            <a:ext cx="139020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200"/>
              </a:spcBef>
              <a:defRPr sz="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TMC-2</a:t>
            </a:r>
            <a:br/>
            <a:r>
              <a:t>5 m/pixel • Panchromatic • Stereo</a:t>
            </a:r>
          </a:p>
        </p:txBody>
      </p:sp>
      <p:sp>
        <p:nvSpPr>
          <p:cNvPr id="352" name="IIRS 80 m/pixel • Hyperspectral"/>
          <p:cNvSpPr txBox="1"/>
          <p:nvPr/>
        </p:nvSpPr>
        <p:spPr>
          <a:xfrm>
            <a:off x="4655982" y="2085319"/>
            <a:ext cx="110629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200"/>
              </a:spcBef>
              <a:defRPr sz="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IIRS</a:t>
            </a:r>
            <a:br/>
            <a:r>
              <a:t>80 m/pixel • Hyperspectral</a:t>
            </a:r>
          </a:p>
        </p:txBody>
      </p:sp>
      <p:sp>
        <p:nvSpPr>
          <p:cNvPr id="353" name="REFERENCE DATA:"/>
          <p:cNvSpPr txBox="1"/>
          <p:nvPr/>
        </p:nvSpPr>
        <p:spPr>
          <a:xfrm>
            <a:off x="29341" y="2374676"/>
            <a:ext cx="120413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200"/>
              </a:spcBef>
              <a:defRPr sz="10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REFERENCE DATA</a:t>
            </a:r>
            <a:r>
              <a:rPr b="0"/>
              <a:t>:</a:t>
            </a:r>
          </a:p>
        </p:txBody>
      </p:sp>
      <p:pic>
        <p:nvPicPr>
          <p:cNvPr id="354" name="pasted-movie.png" descr="pasted-mov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93" y="2627445"/>
            <a:ext cx="724710" cy="709196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LROC NAC / WAC."/>
          <p:cNvSpPr txBox="1"/>
          <p:nvPr/>
        </p:nvSpPr>
        <p:spPr>
          <a:xfrm>
            <a:off x="1557659" y="2732539"/>
            <a:ext cx="106181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LROC NAC / WAC.</a:t>
            </a:r>
          </a:p>
        </p:txBody>
      </p:sp>
      <p:sp>
        <p:nvSpPr>
          <p:cNvPr id="356" name="Line"/>
          <p:cNvSpPr/>
          <p:nvPr/>
        </p:nvSpPr>
        <p:spPr>
          <a:xfrm>
            <a:off x="883626" y="2815089"/>
            <a:ext cx="400521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57" name="RESEARCH FOUNDATION:…"/>
          <p:cNvSpPr txBox="1"/>
          <p:nvPr/>
        </p:nvSpPr>
        <p:spPr>
          <a:xfrm>
            <a:off x="17828" y="3583007"/>
            <a:ext cx="2493187" cy="3498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spcBef>
                <a:spcPts val="1400"/>
              </a:spcBef>
              <a:defRPr sz="1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RESEARCH FOUNDATION: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PHASE CONGRUENCY</a:t>
            </a:r>
            <a:br/>
            <a:r>
              <a:t>Illumination &amp; contrast-invariant structure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RIFT</a:t>
            </a:r>
            <a:br/>
            <a:r>
              <a:t>Radiation-invariant multimodal matching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LoFTR</a:t>
            </a:r>
            <a:br/>
            <a:r>
              <a:t>Detector-free coarse → fine correspondence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MAGSAC++</a:t>
            </a:r>
            <a:br/>
            <a:r>
              <a:t>Robust geometric outlier rejection</a:t>
            </a:r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358" name="Rounded Rectangle"/>
          <p:cNvSpPr/>
          <p:nvPr/>
        </p:nvSpPr>
        <p:spPr>
          <a:xfrm>
            <a:off x="2854062" y="2387376"/>
            <a:ext cx="3187583" cy="3809212"/>
          </a:xfrm>
          <a:prstGeom prst="roundRect">
            <a:avLst>
              <a:gd name="adj" fmla="val 617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9" name="phase congruency was developed specifically as an illumination/contrast-invariant feature measure; RIFT builds multimodal matching around phase congruency; LoFTR performs coarse-to-fine detector-free correspondence; and MAGSAC++ is a robust estimator for"/>
          <p:cNvSpPr txBox="1"/>
          <p:nvPr/>
        </p:nvSpPr>
        <p:spPr>
          <a:xfrm>
            <a:off x="2997495" y="4131466"/>
            <a:ext cx="2968157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phase congruency was developed specifically as an illumination/contrast-invariant feature measure; RIFT builds multimodal matching around phase congruency; LoFTR performs coarse-to-fine detector-free correspondence; and MAGSAC++ is a robust estimator for geometric model fitting.</a:t>
            </a:r>
          </a:p>
        </p:txBody>
      </p:sp>
      <p:sp>
        <p:nvSpPr>
          <p:cNvPr id="360" name="The official Chandrayaan Data Explorer confirms the OHRC, TMC and IIRS characteristics, including OHRC's ~28 cm resolution, TMC's 5 m resolution and IIRS's 80 m GSD."/>
          <p:cNvSpPr txBox="1"/>
          <p:nvPr/>
        </p:nvSpPr>
        <p:spPr>
          <a:xfrm>
            <a:off x="2997612" y="2663892"/>
            <a:ext cx="2973614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The official Chandrayaan Data Explorer confirms the OHRC, TMC and IIRS characteristics, including OHRC's ~28 cm resolution, TMC's 5 m resolution and IIRS's 80 m GSD.</a:t>
            </a:r>
          </a:p>
        </p:txBody>
      </p:sp>
      <p:sp>
        <p:nvSpPr>
          <p:cNvPr id="361" name="[1] ISRO/ISSDC — Chandrayaan-2 Data Explorer &amp; Payload Documentation…"/>
          <p:cNvSpPr txBox="1"/>
          <p:nvPr/>
        </p:nvSpPr>
        <p:spPr>
          <a:xfrm>
            <a:off x="6292276" y="1659389"/>
            <a:ext cx="5810151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2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/>
              </a:rPr>
              <a:t>[1] ISRO/ISSDC — Chandrayaan-2 Data Explorer &amp; Payload Documentation</a:t>
            </a:r>
            <a:endParaRPr i="0"/>
          </a:p>
          <a:p>
            <a:pPr defTabSz="457200">
              <a:defRPr sz="12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0"/>
              </a:rPr>
              <a:t>[2] Li et al. — RIFT: Multi-Modal Image Matching Based on Radiation-Variation Insensitive Feature Transform, IEEE TIP</a:t>
            </a:r>
            <a:endParaRPr i="0"/>
          </a:p>
          <a:p>
            <a:pPr defTabSz="457200">
              <a:defRPr sz="12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1"/>
              </a:rPr>
              <a:t>[3] Sun et al. — LoFTR: Detector-Free Local Feature Matching with Transformers, CVPR 2021</a:t>
            </a:r>
            <a:endParaRPr i="0"/>
          </a:p>
          <a:p>
            <a:pPr defTabSz="457200">
              <a:defRPr sz="12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2"/>
              </a:rPr>
              <a:t>[4] Barath et al. — MAGSAC++, a Fast, Reliable and Accurate Robust Estimator, CVPR 2020</a:t>
            </a:r>
            <a:endParaRPr i="0"/>
          </a:p>
          <a:p>
            <a:pPr defTabSz="457200">
              <a:defRPr sz="12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3"/>
              </a:rPr>
              <a:t>[5] Ge et al. — Automated Registration of Full Moon Remote Sensing Images Based on Triangulated Network Constraints, ISPRS 2024</a:t>
            </a:r>
            <a:endParaRPr i="0"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4"/>
              </a:rPr>
              <a:t>[6] Comparative evaluation of SIFT / ASIFT / AKAZE / RIFT2 / SuperGlue on Chandrayaan-2 lunar data</a:t>
            </a:r>
          </a:p>
          <a:p>
            <a:pPr defTabSz="457200">
              <a:defRPr sz="12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5"/>
              </a:rPr>
              <a:t>[7] NASA PDS / LROC — Lunar Reconnaissance Orbiter Camera Data Archive</a:t>
            </a:r>
            <a:endParaRPr i="0"/>
          </a:p>
          <a:p>
            <a:pPr defTabSz="457200">
              <a:defRPr sz="1200" i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6"/>
              </a:rPr>
              <a:t>[8] USGS Astrogeology — Chandrayaan-2 / ISIS Processing Documentation</a:t>
            </a:r>
          </a:p>
        </p:txBody>
      </p:sp>
      <p:pic>
        <p:nvPicPr>
          <p:cNvPr id="362" name="pasted-movie.png" descr="pasted-movi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2276" y="4093886"/>
            <a:ext cx="5498930" cy="1966220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Legend: ✓ = Yes · △ = Partial · ✗ = No"/>
          <p:cNvSpPr txBox="1"/>
          <p:nvPr/>
        </p:nvSpPr>
        <p:spPr>
          <a:xfrm>
            <a:off x="6384692" y="6143629"/>
            <a:ext cx="301781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dirty="0"/>
              <a:t>Legend:</a:t>
            </a:r>
            <a:r>
              <a:rPr dirty="0"/>
              <a:t> ✓ = Yes · △ = Partial · ✗ = No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1582</Words>
  <Application>Microsoft Office PowerPoint</Application>
  <PresentationFormat>Widescreen</PresentationFormat>
  <Paragraphs>190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Helvetica Neue</vt:lpstr>
      <vt:lpstr>TradeGothic</vt:lpstr>
      <vt:lpstr>Office Theme</vt:lpstr>
      <vt:lpstr>SMART INDIA HACKATHON 2026</vt:lpstr>
      <vt:lpstr> What do we Actually propose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Rohan reddy V</cp:lastModifiedBy>
  <cp:revision>2</cp:revision>
  <dcterms:modified xsi:type="dcterms:W3CDTF">2026-08-30T11:56:59Z</dcterms:modified>
</cp:coreProperties>
</file>